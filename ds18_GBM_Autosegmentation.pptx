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5" r:id="rId4"/>
    <p:sldId id="259" r:id="rId5"/>
    <p:sldId id="261" r:id="rId6"/>
    <p:sldId id="262" r:id="rId7"/>
    <p:sldId id="263" r:id="rId8"/>
    <p:sldId id="264" r:id="rId9"/>
    <p:sldId id="269" r:id="rId10"/>
    <p:sldId id="266" r:id="rId11"/>
    <p:sldId id="270" r:id="rId12"/>
    <p:sldId id="276" r:id="rId13"/>
    <p:sldId id="258" r:id="rId14"/>
    <p:sldId id="271" r:id="rId15"/>
    <p:sldId id="272" r:id="rId16"/>
    <p:sldId id="274" r:id="rId17"/>
    <p:sldId id="273" r:id="rId18"/>
    <p:sldId id="275" r:id="rId19"/>
    <p:sldId id="267" r:id="rId20"/>
    <p:sldId id="268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2B"/>
    <a:srgbClr val="00142D"/>
    <a:srgbClr val="002D5E"/>
    <a:srgbClr val="002148"/>
    <a:srgbClr val="001836"/>
    <a:srgbClr val="00214C"/>
    <a:srgbClr val="FFCDCD"/>
    <a:srgbClr val="2D8CFF"/>
    <a:srgbClr val="9189FF"/>
    <a:srgbClr val="FFF5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26" y="4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4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8965" y="3376211"/>
            <a:ext cx="8266242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4252" y="2724455"/>
            <a:ext cx="7280955" cy="763524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00B0F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3880"/>
            <a:ext cx="8229600" cy="7626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9254"/>
            <a:ext cx="8229600" cy="3264448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2145" y="162200"/>
            <a:ext cx="6405375" cy="903587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2145" y="1104507"/>
            <a:ext cx="6405375" cy="3658289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08" y="433879"/>
            <a:ext cx="8075311" cy="734703"/>
          </a:xfrm>
        </p:spPr>
        <p:txBody>
          <a:bodyPr>
            <a:normAutofit/>
          </a:bodyPr>
          <a:lstStyle>
            <a:lvl1pPr algn="r">
              <a:defRPr sz="3600" u="none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08" y="1544993"/>
            <a:ext cx="4040188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13636"/>
            <a:ext cx="4035120" cy="2427818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544992"/>
            <a:ext cx="4041775" cy="56864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13635"/>
            <a:ext cx="4041775" cy="2427819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cerimagingarchive.net/collection/ucsd-ptgbm/" TargetMode="External"/><Relationship Id="rId2" Type="http://schemas.openxmlformats.org/officeDocument/2006/relationships/hyperlink" Target="https://brain-development.org/ixi-datas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s18finalproject-danielc.streamlit.app/" TargetMode="External"/><Relationship Id="rId4" Type="http://schemas.openxmlformats.org/officeDocument/2006/relationships/hyperlink" Target="https://github.com/daniel-chervin/DS18_FinalProject/tree/main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879" y="4098800"/>
            <a:ext cx="8266242" cy="1159893"/>
          </a:xfrm>
        </p:spPr>
        <p:txBody>
          <a:bodyPr/>
          <a:lstStyle/>
          <a:p>
            <a:r>
              <a:rPr lang="en-US"/>
              <a:t>3D UNET GBM Auto Segmentation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900" y="3564332"/>
            <a:ext cx="7280955" cy="763524"/>
          </a:xfrm>
        </p:spPr>
        <p:txBody>
          <a:bodyPr/>
          <a:lstStyle/>
          <a:p>
            <a:r>
              <a:rPr lang="en-US"/>
              <a:t>DS18 – Chervin Daniel.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B267A-F8B0-6020-2FD7-3E8C6EE79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785" y="128470"/>
            <a:ext cx="2337617" cy="23166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91F9AF-CFD3-AAE0-A769-543A17F27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245" y="1623849"/>
            <a:ext cx="2360632" cy="236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32613"/>
            <a:ext cx="8229600" cy="3110887"/>
          </a:xfrm>
        </p:spPr>
        <p:txBody>
          <a:bodyPr>
            <a:normAutofit fontScale="47500" lnSpcReduction="20000"/>
          </a:bodyPr>
          <a:lstStyle/>
          <a:p>
            <a:r>
              <a:rPr lang="en-US" sz="2900" dirty="0"/>
              <a:t>Automatic glioblastoma multiforme (GBM) segmentation refers to the use of computer algorithms—most often deep-learning models—to identify and delineate tumor regions in magnetic resonance imaging (MRI) scans without manual intervention. </a:t>
            </a:r>
          </a:p>
          <a:p>
            <a:endParaRPr lang="en-US" sz="2900" dirty="0"/>
          </a:p>
          <a:p>
            <a:r>
              <a:rPr lang="en-US" sz="2900" dirty="0"/>
              <a:t>Precision in Treatment Planning: Automatic GBM segmentation provides consistent, voxel-level delineation of tumor subregions (enhancing tumor, edema, necrosis</a:t>
            </a:r>
            <a:r>
              <a:rPr lang="he-IL" sz="2900" dirty="0"/>
              <a:t>(</a:t>
            </a:r>
            <a:r>
              <a:rPr lang="en-US" sz="2900" dirty="0"/>
              <a:t>. </a:t>
            </a:r>
          </a:p>
          <a:p>
            <a:endParaRPr lang="en-US" sz="2900" dirty="0"/>
          </a:p>
          <a:p>
            <a:r>
              <a:rPr lang="en-US" sz="2900" dirty="0"/>
              <a:t>Efficiency &amp; Scalability: Automated methods drastically reduce the time and labor of manual contouring.</a:t>
            </a:r>
          </a:p>
          <a:p>
            <a:endParaRPr lang="en-US" sz="2900" dirty="0"/>
          </a:p>
          <a:p>
            <a:r>
              <a:rPr lang="en-US" sz="2900" dirty="0"/>
              <a:t>Reproducibility &amp; Objectivity: By minimizing inter- and intra-observer variability inherent to manual annotation.</a:t>
            </a:r>
          </a:p>
          <a:p>
            <a:endParaRPr lang="en-US" sz="2900" dirty="0"/>
          </a:p>
          <a:p>
            <a:r>
              <a:rPr lang="en-US" sz="2900" dirty="0"/>
              <a:t>Quantitative Monitoring: Enables robust quantification of tumor volume changes over time, supporting early assessment of treatment response and facilitating adaptive therapy strategies.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5304F8-BDC0-9547-1116-4EB055B94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13" y="136388"/>
            <a:ext cx="1570164" cy="15560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A55644-F843-4D91-590F-1D3EC02DB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360" y="136387"/>
            <a:ext cx="1556061" cy="15560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5AC1902A-216B-15A5-40C4-ABB22072FA8E}"/>
              </a:ext>
            </a:extLst>
          </p:cNvPr>
          <p:cNvSpPr/>
          <p:nvPr/>
        </p:nvSpPr>
        <p:spPr>
          <a:xfrm>
            <a:off x="2670108" y="723762"/>
            <a:ext cx="610820" cy="38131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B71C-6C70-837B-C413-B1D7D0D5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8AC5-71AD-09E3-43E4-EA2DC24B6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Datasets &amp; repositories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7FD9D-8C49-C661-5842-3090EEE6A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2814"/>
            <a:ext cx="8390540" cy="3110887"/>
          </a:xfrm>
        </p:spPr>
        <p:txBody>
          <a:bodyPr>
            <a:normAutofit/>
          </a:bodyPr>
          <a:lstStyle/>
          <a:p>
            <a:r>
              <a:rPr lang="en-US" sz="1800" dirty="0"/>
              <a:t>Healthy Brain full scans in nifty format.</a:t>
            </a:r>
          </a:p>
          <a:p>
            <a:pPr lvl="1"/>
            <a:r>
              <a:rPr lang="en-US" sz="1800" dirty="0"/>
              <a:t>IXI dataset  </a:t>
            </a:r>
            <a:r>
              <a:rPr lang="en-US" sz="1800" u="sng" dirty="0">
                <a:hlinkClick r:id="rId2"/>
              </a:rPr>
              <a:t>https://brain-development.org/ixi-dataset/</a:t>
            </a:r>
            <a:endParaRPr lang="en-US" sz="1800" u="sng" dirty="0"/>
          </a:p>
          <a:p>
            <a:r>
              <a:rPr lang="en-US" sz="1800" dirty="0"/>
              <a:t>Brain full scans with GBM + labels (segmentation) nifty format.</a:t>
            </a:r>
          </a:p>
          <a:p>
            <a:pPr lvl="1"/>
            <a:r>
              <a:rPr lang="en-US" sz="1800" dirty="0"/>
              <a:t>BRATS dataset </a:t>
            </a:r>
            <a:r>
              <a:rPr lang="en-US" sz="1800" dirty="0">
                <a:hlinkClick r:id="rId3"/>
              </a:rPr>
              <a:t>https://www.cancerimagingarchive.net/collection/ucsd-ptgbm/</a:t>
            </a:r>
            <a:endParaRPr lang="en-US" sz="1800" u="sng" dirty="0"/>
          </a:p>
          <a:p>
            <a:endParaRPr lang="en-US" sz="1800" u="sng" dirty="0"/>
          </a:p>
          <a:p>
            <a:r>
              <a:rPr lang="en-US" sz="1800" dirty="0" err="1"/>
              <a:t>Github</a:t>
            </a:r>
            <a:r>
              <a:rPr lang="en-US" sz="1800" dirty="0"/>
              <a:t> repo</a:t>
            </a:r>
          </a:p>
          <a:p>
            <a:pPr lvl="1"/>
            <a:r>
              <a:rPr lang="en-US" sz="1800" u="sng" dirty="0">
                <a:hlinkClick r:id="rId4"/>
              </a:rPr>
              <a:t>https://github.com/daniel-chervin/DS18_FinalProject/tree/main</a:t>
            </a:r>
            <a:endParaRPr lang="en-US" sz="1800" u="sng" dirty="0"/>
          </a:p>
          <a:p>
            <a:r>
              <a:rPr lang="en-US" sz="1800" dirty="0" err="1"/>
              <a:t>Streamlit</a:t>
            </a:r>
            <a:r>
              <a:rPr lang="en-US" sz="1800" dirty="0"/>
              <a:t> app</a:t>
            </a:r>
          </a:p>
          <a:p>
            <a:pPr lvl="1"/>
            <a:r>
              <a:rPr lang="en-US" sz="1800" u="sng" dirty="0">
                <a:hlinkClick r:id="rId5"/>
              </a:rPr>
              <a:t>https://ds18finalproject-danielc.streamlit.app/</a:t>
            </a:r>
            <a:r>
              <a:rPr lang="en-US" sz="1800" u="sng" dirty="0"/>
              <a:t> 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42664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Strategies tested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70604" y="1197405"/>
            <a:ext cx="7312325" cy="365828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Unsupervised (private interest) </a:t>
            </a:r>
          </a:p>
          <a:p>
            <a:pPr lvl="1"/>
            <a:r>
              <a:rPr lang="en-US" dirty="0"/>
              <a:t>Train Autoencoders on healthy brain MRI scans (IXI).</a:t>
            </a:r>
          </a:p>
          <a:p>
            <a:pPr lvl="1"/>
            <a:r>
              <a:rPr lang="en-US" dirty="0"/>
              <a:t>Inference on Brain scan with tumor and analyze  reconstruction anomalies.</a:t>
            </a:r>
          </a:p>
          <a:p>
            <a:pPr lvl="1"/>
            <a:r>
              <a:rPr lang="en-US" dirty="0"/>
              <a:t>Does not require a labeled dataset, advantage.</a:t>
            </a:r>
          </a:p>
          <a:p>
            <a:pPr lvl="1"/>
            <a:r>
              <a:rPr lang="en-US" dirty="0"/>
              <a:t>Spoiler… not accurate enough segmentation, disadvantage.</a:t>
            </a:r>
          </a:p>
          <a:p>
            <a:r>
              <a:rPr lang="en-US" dirty="0"/>
              <a:t>Supervised </a:t>
            </a:r>
          </a:p>
          <a:p>
            <a:pPr lvl="1"/>
            <a:r>
              <a:rPr lang="en-US" dirty="0"/>
              <a:t>Train a 3D UNET CNN on MRI scans with GBM + labels dataset.</a:t>
            </a:r>
          </a:p>
          <a:p>
            <a:pPr lvl="1"/>
            <a:r>
              <a:rPr lang="en-US" dirty="0"/>
              <a:t>Evaluate on a ground truth scans with labels.</a:t>
            </a: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27BF0-C8A3-7654-FB2E-537AFA9EC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6FCB62-F895-585D-CADE-89C80A4A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720" y="128470"/>
            <a:ext cx="6396095" cy="5066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Unsupevised</a:t>
            </a:r>
            <a:r>
              <a:rPr lang="en-US" dirty="0"/>
              <a:t> – VAE with MB Conv</a:t>
            </a:r>
          </a:p>
        </p:txBody>
      </p:sp>
      <p:pic>
        <p:nvPicPr>
          <p:cNvPr id="1026" name="Picture 2" descr="GitHub - julian-8897/Conv-VAE-PyTorch: Variational Autoencoder (VAE) in  PyTorch">
            <a:extLst>
              <a:ext uri="{FF2B5EF4-FFF2-40B4-BE49-F238E27FC236}">
                <a16:creationId xmlns:a16="http://schemas.microsoft.com/office/drawing/2014/main" id="{B5A02432-C3CB-2919-314C-016D352BB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384" y="739290"/>
            <a:ext cx="6713355" cy="369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800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8729D-9879-29FF-6278-56AE12A86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E95278-9F73-90FC-E345-DF184E30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720" y="128470"/>
            <a:ext cx="6396095" cy="5066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Unsupevised</a:t>
            </a:r>
            <a:r>
              <a:rPr lang="en-US" dirty="0"/>
              <a:t> – VAE with MB Conv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E2B5235-94E2-85AE-5147-5A52B6716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68397" y="727808"/>
            <a:ext cx="7320690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Input volume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3D scan enters the encoder.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Encoder path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Series of MBConv3D blocks that expand channels and down-sample via stride.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Global average pooling yields a single feature vector.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Two linear layers produce μ and log σ² for the latent distribution.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/>
              <a:t>Latent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space (z)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Sampling occurs via the reparameterization trick.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Decoder path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Project z back to a small feature map.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Three rounds of ConvTranspose3D up-sampling followed by MBConv3D refinement.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Final 1×1×1 convolution reconstructs the single-channel volume.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02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7C98C-078B-C7AD-3F33-83B2F73EF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9F7576-4268-CBC5-71A7-86B1F3239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720" y="128470"/>
            <a:ext cx="6871725" cy="610820"/>
          </a:xfrm>
        </p:spPr>
        <p:txBody>
          <a:bodyPr>
            <a:normAutofit fontScale="90000"/>
          </a:bodyPr>
          <a:lstStyle/>
          <a:p>
            <a:r>
              <a:rPr lang="en-US" dirty="0"/>
              <a:t>VAE </a:t>
            </a:r>
            <a:r>
              <a:rPr lang="en-US" dirty="0" err="1"/>
              <a:t>MBConv</a:t>
            </a:r>
            <a:r>
              <a:rPr lang="en-US" dirty="0"/>
              <a:t> results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BD223DB-B5C8-9A8C-BC01-AE88D264B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237" y="739290"/>
            <a:ext cx="4392208" cy="4070391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162EAAC-E43A-2BEE-21C7-6AC2F5C45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6" y="739290"/>
            <a:ext cx="4402183" cy="407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2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F1F1C-014C-7E30-2744-733241C1F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274D1F-663E-7027-D994-3493BE7F8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8720" y="128470"/>
            <a:ext cx="6396095" cy="506666"/>
          </a:xfrm>
        </p:spPr>
        <p:txBody>
          <a:bodyPr>
            <a:normAutofit fontScale="90000"/>
          </a:bodyPr>
          <a:lstStyle/>
          <a:p>
            <a:r>
              <a:rPr lang="en-US" dirty="0"/>
              <a:t>VAE </a:t>
            </a:r>
            <a:r>
              <a:rPr lang="en-US" dirty="0" err="1"/>
              <a:t>MBConv</a:t>
            </a:r>
            <a:r>
              <a:rPr lang="en-US" dirty="0"/>
              <a:t> </a:t>
            </a:r>
            <a:r>
              <a:rPr lang="en-US" dirty="0" err="1"/>
              <a:t>conclussions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E3621D-12C5-C033-E4A0-CE1A12AAF8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3310" y="619185"/>
            <a:ext cx="732069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VAE + </a:t>
            </a:r>
            <a:r>
              <a:rPr lang="en-US" sz="1800" dirty="0" err="1"/>
              <a:t>MBConv</a:t>
            </a:r>
            <a:r>
              <a:rPr lang="en-US" sz="1800" dirty="0"/>
              <a:t> model is consistently picking up the high-contrast core of the tumor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Under-segmentation, misses central and peripheral regions.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Spurious false positives, small, scattered green/blue islands in regions where the ground truth has none.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Shape irregularity, jagged output, holes…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Next steps (post DS18 ;)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Increase latent capacity.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Morphological post-processing, eliminate spurious islands and fill holes.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 err="1"/>
              <a:t>Etc</a:t>
            </a:r>
            <a:r>
              <a:rPr lang="en-US" sz="1800" dirty="0"/>
              <a:t>…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Overall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Catches the tumor but requires more investigation and refinement of the architecture to segment the full region and handle false positives.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433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CB641-BC19-27D6-D76A-F79CDD3A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961488-2CF8-9E24-43CA-6521FF046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3065" y="281175"/>
            <a:ext cx="4951349" cy="73470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Supervised - 3D UNET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EE3BA-62CF-A303-E48B-11EDACC2CA8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3555" y="910796"/>
            <a:ext cx="8856890" cy="3970318"/>
          </a:xfrm>
          <a:prstGeom prst="rect">
            <a:avLst/>
          </a:prstGeom>
          <a:solidFill>
            <a:srgbClr val="00142D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U-Net is a CNN architecture originally designed for biomedical image segmentation, featuring a symmetric “U-shaped” encoder–decoder.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encoder (contracting path) repeatedly applies convolutional blocks and down-sampling to capture context and extract deep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decoder (expansive path) uses transposed convolutions to up-sample feature maps and gradually recover spatial resolution.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Skip connections link each encoder layer to its corresponding decoder layer, concatenating feature maps to preserve fine-grained localization.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With its efficient use of data and strong localization ability, U-Net has become a foundational model for medical and semantic segmentation tasks.</a:t>
            </a:r>
          </a:p>
        </p:txBody>
      </p:sp>
    </p:spTree>
    <p:extLst>
      <p:ext uri="{BB962C8B-B14F-4D97-AF65-F5344CB8AC3E}">
        <p14:creationId xmlns:p14="http://schemas.microsoft.com/office/powerpoint/2010/main" val="2771645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8C7C4-54CF-8E9B-694C-007692ED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658B1E-112C-252B-A435-16CB0A4B7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130" y="-24235"/>
            <a:ext cx="6396095" cy="50666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Supevised</a:t>
            </a:r>
            <a:r>
              <a:rPr lang="en-US" dirty="0"/>
              <a:t> – 3D UNET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D4179C-084D-B1E1-6911-60DC55DDC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0" y="474568"/>
            <a:ext cx="8389625" cy="460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01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0107-A9A3-1D74-8431-7D532DB8E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0BD1E1-5204-F240-A71E-85EFC2F4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7120" y="233644"/>
            <a:ext cx="4951349" cy="734703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3D UNET with Monai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5F146879-FF3A-F60B-D8F3-9D8301F27C6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8279" y="1398058"/>
            <a:ext cx="8927441" cy="3416320"/>
          </a:xfrm>
          <a:prstGeom prst="rect">
            <a:avLst/>
          </a:prstGeom>
          <a:solidFill>
            <a:srgbClr val="001836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Input → 2×ResUnit @16 → ↓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16 → 2×ResUnit @32 → ↓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32 → 2×ResUnit @64 → ↓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64 → 2×ResUnit @128 → 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Bottleneck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: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2×ResUnit @256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↑ 2×ResUnit @128 ← Skip from step 4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↑ 2×ResUnit @64 ← Skip from step 3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↑ 2×ResUnit @32 ← Skip from step 2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↑ 2×ResUnit @16 ← Skip from step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1×1×1 Conv →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num_classes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(=4) channel output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EE861B-1757-25ED-AC26-B03BDFA75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794" y="1044700"/>
            <a:ext cx="2494009" cy="167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85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9A38A-8F4E-05BE-4884-437EC985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644AC4-89CC-2F14-2153-D316AFB2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7120" y="128470"/>
            <a:ext cx="4951349" cy="734703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3D UNET with Monai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EE9C9379-C96F-DAB7-D498-02860917269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739290"/>
            <a:ext cx="8927441" cy="4382738"/>
          </a:xfrm>
          <a:prstGeom prst="rect">
            <a:avLst/>
          </a:prstGeom>
          <a:solidFill>
            <a:srgbClr val="001836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 dirty="0"/>
              <a:t>Input: </a:t>
            </a:r>
            <a:r>
              <a:rPr lang="en-US" sz="1400" dirty="0"/>
              <a:t>A 128×128×128 MRI volume.</a:t>
            </a:r>
          </a:p>
          <a:p>
            <a:pPr algn="l"/>
            <a:r>
              <a:rPr lang="en-US" sz="1400" b="1" dirty="0"/>
              <a:t>Contracting (“Encoder”) Path</a:t>
            </a:r>
            <a:endParaRPr lang="en-US" sz="1400" dirty="0"/>
          </a:p>
          <a:p>
            <a:pPr lvl="1" algn="l"/>
            <a:r>
              <a:rPr lang="en-US" sz="1000" b="1" dirty="0"/>
              <a:t>C1</a:t>
            </a:r>
            <a:r>
              <a:rPr lang="en-US" sz="1000" dirty="0"/>
              <a:t>: two 3×3×3 Conv → ReLU layers producing 16 channels.</a:t>
            </a:r>
          </a:p>
          <a:p>
            <a:pPr lvl="1" algn="l"/>
            <a:r>
              <a:rPr lang="en-US" sz="1100" b="1" dirty="0"/>
              <a:t>P1</a:t>
            </a:r>
            <a:r>
              <a:rPr lang="en-US" sz="1100" dirty="0"/>
              <a:t>: 2×2×2 max-pool reduces to 64³.</a:t>
            </a:r>
          </a:p>
          <a:p>
            <a:pPr lvl="1" algn="l"/>
            <a:r>
              <a:rPr lang="en-US" sz="1100" b="1" dirty="0"/>
              <a:t>C2</a:t>
            </a:r>
            <a:r>
              <a:rPr lang="en-US" sz="1100" dirty="0"/>
              <a:t>: 2xResUnit(</a:t>
            </a:r>
            <a:r>
              <a:rPr lang="en-US" sz="1100" dirty="0" err="1"/>
              <a:t>Conv+ReLU</a:t>
            </a:r>
            <a:r>
              <a:rPr lang="en-US" sz="1100" dirty="0"/>
              <a:t>) → 32 channels; </a:t>
            </a:r>
            <a:r>
              <a:rPr lang="en-US" sz="1100" b="1" dirty="0"/>
              <a:t>P2</a:t>
            </a:r>
            <a:r>
              <a:rPr lang="en-US" sz="1100" dirty="0"/>
              <a:t> → 32³.</a:t>
            </a:r>
          </a:p>
          <a:p>
            <a:pPr lvl="1" algn="l"/>
            <a:r>
              <a:rPr lang="en-US" sz="1100" b="1" dirty="0"/>
              <a:t>C3</a:t>
            </a:r>
            <a:r>
              <a:rPr lang="en-US" sz="1100" dirty="0"/>
              <a:t>: 2xResUnit(</a:t>
            </a:r>
            <a:r>
              <a:rPr lang="en-US" sz="1100" dirty="0" err="1"/>
              <a:t>Conv+ReLU</a:t>
            </a:r>
            <a:r>
              <a:rPr lang="en-US" sz="1100" dirty="0"/>
              <a:t>) → 64 channels; </a:t>
            </a:r>
            <a:r>
              <a:rPr lang="en-US" sz="1100" b="1" dirty="0"/>
              <a:t>P3</a:t>
            </a:r>
            <a:r>
              <a:rPr lang="en-US" sz="1100" dirty="0"/>
              <a:t> → 16³.</a:t>
            </a:r>
          </a:p>
          <a:p>
            <a:pPr lvl="1" algn="l"/>
            <a:r>
              <a:rPr lang="en-US" sz="1100" b="1" dirty="0"/>
              <a:t>C4</a:t>
            </a:r>
            <a:r>
              <a:rPr lang="en-US" sz="1100" dirty="0"/>
              <a:t>: 2xResUnit(</a:t>
            </a:r>
            <a:r>
              <a:rPr lang="en-US" sz="1100" dirty="0" err="1"/>
              <a:t>Conv+ReLU</a:t>
            </a:r>
            <a:r>
              <a:rPr lang="en-US" sz="1100" dirty="0"/>
              <a:t>) → 128 channels; </a:t>
            </a:r>
            <a:r>
              <a:rPr lang="en-US" sz="1100" b="1" dirty="0"/>
              <a:t>P4</a:t>
            </a:r>
            <a:r>
              <a:rPr lang="en-US" sz="1100" dirty="0"/>
              <a:t> → 8³.</a:t>
            </a:r>
          </a:p>
          <a:p>
            <a:pPr lvl="1" algn="l"/>
            <a:r>
              <a:rPr lang="en-US" sz="1100" b="1" dirty="0"/>
              <a:t>Bottleneck (C5)</a:t>
            </a:r>
            <a:r>
              <a:rPr lang="en-US" sz="1100" dirty="0"/>
              <a:t>: Conv block → 256 channels at 8³.</a:t>
            </a:r>
          </a:p>
          <a:p>
            <a:pPr algn="l"/>
            <a:r>
              <a:rPr lang="en-US" sz="1400" b="1" dirty="0"/>
              <a:t>Expansive (“Decoder”) Path</a:t>
            </a:r>
            <a:endParaRPr lang="en-US" sz="1400" dirty="0"/>
          </a:p>
          <a:p>
            <a:pPr lvl="1" algn="l"/>
            <a:r>
              <a:rPr lang="en-US" sz="1100" b="1" dirty="0"/>
              <a:t>U6</a:t>
            </a:r>
            <a:r>
              <a:rPr lang="en-US" sz="1100" dirty="0"/>
              <a:t>: 2× up-sampling from 8³→16³, concatenate with C4 features (skip), then Conv block →128 channels.</a:t>
            </a:r>
          </a:p>
          <a:p>
            <a:pPr lvl="1" algn="l"/>
            <a:r>
              <a:rPr lang="en-US" sz="1100" b="1" dirty="0"/>
              <a:t>U7</a:t>
            </a:r>
            <a:r>
              <a:rPr lang="en-US" sz="1100" dirty="0"/>
              <a:t>: up-sample 16³→32³ + C3 skip → 2xResUnit(</a:t>
            </a:r>
            <a:r>
              <a:rPr lang="en-US" sz="1100" dirty="0" err="1"/>
              <a:t>DeConv+ReLU</a:t>
            </a:r>
            <a:r>
              <a:rPr lang="en-US" sz="1100" dirty="0"/>
              <a:t>) →64 channels.</a:t>
            </a:r>
          </a:p>
          <a:p>
            <a:pPr lvl="1" algn="l"/>
            <a:r>
              <a:rPr lang="en-US" sz="1100" b="1" dirty="0"/>
              <a:t>U8</a:t>
            </a:r>
            <a:r>
              <a:rPr lang="en-US" sz="1100" dirty="0"/>
              <a:t>: up-sample 32³→64³ + C2 skip → 2xResUnit(</a:t>
            </a:r>
            <a:r>
              <a:rPr lang="en-US" sz="1100" dirty="0" err="1"/>
              <a:t>DeConv+ReLU</a:t>
            </a:r>
            <a:r>
              <a:rPr lang="en-US" sz="1100" dirty="0"/>
              <a:t>) →32 channels.</a:t>
            </a:r>
          </a:p>
          <a:p>
            <a:pPr lvl="1" algn="l"/>
            <a:r>
              <a:rPr lang="en-US" sz="1100" b="1" dirty="0"/>
              <a:t>U9</a:t>
            </a:r>
            <a:r>
              <a:rPr lang="en-US" sz="1100" dirty="0"/>
              <a:t>: up-sample 64³→128³ + C1 skip → 2xResUnit(</a:t>
            </a:r>
            <a:r>
              <a:rPr lang="en-US" sz="1100" dirty="0" err="1"/>
              <a:t>DeConv+ReLU</a:t>
            </a:r>
            <a:r>
              <a:rPr lang="en-US" sz="1100" dirty="0"/>
              <a:t>) →16 channels.</a:t>
            </a:r>
          </a:p>
          <a:p>
            <a:pPr algn="l"/>
            <a:r>
              <a:rPr lang="en-US" sz="1400" b="1" dirty="0"/>
              <a:t>Final Output</a:t>
            </a:r>
            <a:endParaRPr lang="en-US" sz="1400" dirty="0"/>
          </a:p>
          <a:p>
            <a:pPr lvl="1" algn="l"/>
            <a:r>
              <a:rPr lang="en-US" sz="1100" dirty="0"/>
              <a:t>A 1×1×1 Conv projects the 16-channel map to a single segmentation mask (128³×1).</a:t>
            </a:r>
          </a:p>
          <a:p>
            <a:pPr algn="l"/>
            <a:r>
              <a:rPr lang="en-US" sz="1400" b="1" dirty="0"/>
              <a:t>Key Points</a:t>
            </a:r>
            <a:endParaRPr lang="en-US" sz="1400" dirty="0"/>
          </a:p>
          <a:p>
            <a:pPr lvl="1" algn="l"/>
            <a:r>
              <a:rPr lang="en-US" sz="1100" b="1" dirty="0"/>
              <a:t>Symmetry</a:t>
            </a:r>
            <a:r>
              <a:rPr lang="en-US" sz="1100" dirty="0"/>
              <a:t>: encoder and decoder mirror each other in depth and channel counts.</a:t>
            </a:r>
          </a:p>
          <a:p>
            <a:pPr lvl="1" algn="l"/>
            <a:r>
              <a:rPr lang="en-US" sz="1100" b="1" dirty="0"/>
              <a:t>Skip Connections</a:t>
            </a:r>
            <a:r>
              <a:rPr lang="en-US" sz="1100" dirty="0"/>
              <a:t>: direct concatenation of encoder features restores fine spatial detail.</a:t>
            </a:r>
          </a:p>
          <a:p>
            <a:pPr lvl="1" algn="l"/>
            <a:r>
              <a:rPr lang="en-US" sz="1100" b="1" dirty="0"/>
              <a:t>3D Conv &amp; Pool/</a:t>
            </a:r>
            <a:r>
              <a:rPr lang="en-US" sz="1100" b="1" dirty="0" err="1"/>
              <a:t>Upsample</a:t>
            </a:r>
            <a:r>
              <a:rPr lang="en-US" sz="1100" dirty="0"/>
              <a:t>: all operations are volumetric, preserving the 3D context.</a:t>
            </a: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7E0C2D-8046-485B-4BB8-4B9C6E41F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794" y="891995"/>
            <a:ext cx="2494009" cy="167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42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03066" y="233644"/>
            <a:ext cx="5395404" cy="734703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3D UNET Packages &amp; libraries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01783AC0-E789-D6E3-56DB-1BB246DA1D9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96260" y="1101522"/>
            <a:ext cx="836189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b="1" dirty="0"/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PyTorch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ibrary for tensor operations and GPU acceleration.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Dataset,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DataLoader</a:t>
            </a:r>
            <a:r>
              <a:rPr lang="en-US" altLang="en-US" sz="1600" dirty="0"/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abstractions to wrap your data and batch/shuffle it efficiently during training.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nn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</a:rPr>
              <a:t>PyTorch’s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module for building neural‐network layers and models.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optim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Provides optimizers (e.g. Adam), to update model weights via backpropagation (</a:t>
            </a:r>
            <a:r>
              <a:rPr lang="en-US" sz="1600" dirty="0" err="1"/>
              <a:t>nn.CrossEntropyLoss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SimpleITK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sitk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Utility for reading, writing, and preprocessing medical‐image volumes (e.g.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</a:rPr>
              <a:t>NIfTI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Scikit-learn: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/>
              <a:t>train_test_split</a:t>
            </a:r>
            <a:r>
              <a:rPr lang="en-US" altLang="en-US" sz="1600" dirty="0"/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helper to split file lists or arrays into training and validation 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UNet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(from MONAI)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Off‐the‐shelf 3D U-Net implementation tailored for medical segmentation.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DiceLoss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A segmentation loss function that maximizes overlap (Dice coefficient) between prediction and ground truth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8746B-E09B-F776-18FE-35BCDC908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9D7C6F-8439-5969-DD85-6C1064B51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60" y="233644"/>
            <a:ext cx="5548109" cy="734703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Monai 3D UNET Batch </a:t>
            </a:r>
            <a:r>
              <a:rPr lang="en-US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Inefrence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30D09-91D0-5ACA-2061-7FA54D5DB5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5752" y="845237"/>
            <a:ext cx="8892495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b="1" dirty="0">
                <a:latin typeface="Arial" panose="020B0604020202020204" pitchFamily="34" charset="0"/>
              </a:rPr>
              <a:t> Se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tup directories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tumor or healthy test scans and their corresponding output folders, creating them if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Load the trained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once from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checkpoint_path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and switch to evaluation mode.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Loop over all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*-T1.nii.gz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files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input_dir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, stripping the suffix to build each output filename.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Read each volume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SimpleITK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convert to a NumPy array,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z-score normalize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Convert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array to a 1×1×D×H×W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tensor on the chosen device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run inference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under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torch.no_grad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Compute the segmentation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by taking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argmax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over the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</a:rPr>
              <a:t>softmax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channels.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Reconstruct a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NIfTI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from the label map (preserving original spacing/origin)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write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it to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output_dir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, logging each save.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300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23F68-A4E9-ACE0-0F5F-64D7AE87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696E2E-56CC-A246-D444-30F63C7EC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60" y="233644"/>
            <a:ext cx="5548109" cy="734703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Monai 3D UNET Batch Inference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4271C9-60C3-6078-24AB-D0F48C09E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597" y="879487"/>
            <a:ext cx="6541130" cy="42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65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A17E6-DEE3-0974-4339-D59FF19A6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4B5A30-F18E-2B11-877D-822E909E6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60" y="128470"/>
            <a:ext cx="5548109" cy="734703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Monai 3D UNET </a:t>
            </a:r>
            <a:r>
              <a:rPr lang="en-US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Streamlit</a:t>
            </a: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1165F-D77D-D425-B7F7-2796D525FD9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5752" y="729491"/>
            <a:ext cx="8892495" cy="4370427"/>
          </a:xfrm>
          <a:prstGeom prst="rect">
            <a:avLst/>
          </a:prstGeom>
          <a:solidFill>
            <a:srgbClr val="00112B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/>
              <a:t> </a:t>
            </a:r>
            <a:r>
              <a:rPr lang="en-US" altLang="en-US" sz="1600" dirty="0"/>
              <a:t>Batch inference ran in 3D_UNet_Brain_Tumor_Segmentation_multiclass_complete.ipynb notebook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/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Inference ran on scans with tumors and healthy </a:t>
            </a:r>
            <a:r>
              <a:rPr lang="en-US" altLang="en-US" sz="1600" dirty="0"/>
              <a:t>scans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for reference.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</a:rPr>
              <a:t> Files for testing (Brain MRI,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effectLst/>
              </a:rPr>
              <a:t>ground_truth</a:t>
            </a:r>
            <a:r>
              <a:rPr lang="en-US" altLang="en-US" sz="1600" dirty="0"/>
              <a:t> &amp; predicted segmentations) uploaded to GitHub then cached into </a:t>
            </a:r>
            <a:r>
              <a:rPr lang="en-US" altLang="en-US" sz="1600" dirty="0" err="1"/>
              <a:t>Streamlit</a:t>
            </a:r>
            <a:r>
              <a:rPr lang="en-US" altLang="en-US" sz="1600" dirty="0"/>
              <a:t> session memory on app startup (faster but heavier on resources, tricky).</a:t>
            </a:r>
            <a:endParaRPr kumimoji="0" lang="en-US" altLang="en-US" sz="16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 Browse through: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 Different cases/scans.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Different planed (axial,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</a:rPr>
              <a:t>saggital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&amp; coronal)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 Slide different slices.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</a:rPr>
              <a:t>Each case shows 4 views, MRI with overlayed segmentations (ground truth, predicted &amp; combined) and MRI without overlays.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</a:rPr>
              <a:t>HelperFunftions.py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1400" i="1" u="none" strike="noStrike" cap="none" normalizeH="0" baseline="0" dirty="0" err="1">
                <a:ln>
                  <a:noFill/>
                </a:ln>
                <a:effectLst/>
              </a:rPr>
              <a:t>compute_segmentation_metrics</a:t>
            </a:r>
            <a:r>
              <a:rPr kumimoji="0" lang="en-US" altLang="en-US" sz="1400" i="1" u="none" strike="noStrike" cap="none" normalizeH="0" baseline="0" dirty="0">
                <a:ln>
                  <a:noFill/>
                </a:ln>
                <a:effectLst/>
              </a:rPr>
              <a:t> - </a:t>
            </a:r>
            <a:r>
              <a:rPr kumimoji="0" lang="en-US" altLang="en-US" sz="1400" u="none" strike="noStrike" cap="none" normalizeH="0" baseline="0" dirty="0">
                <a:ln>
                  <a:noFill/>
                </a:ln>
                <a:effectLst/>
              </a:rPr>
              <a:t>compares ground truth and predicted segmentations.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/>
              <a:t> </a:t>
            </a:r>
            <a:r>
              <a:rPr lang="en-US" altLang="en-US" sz="1400" i="1" dirty="0" err="1"/>
              <a:t>analyze_metrics_with_gpt</a:t>
            </a:r>
            <a:r>
              <a:rPr lang="en-US" altLang="en-US" sz="1400" dirty="0"/>
              <a:t> – prompts </a:t>
            </a:r>
            <a:r>
              <a:rPr lang="en-US" altLang="en-US" sz="1400" dirty="0" err="1"/>
              <a:t>openai</a:t>
            </a:r>
            <a:r>
              <a:rPr lang="en-US" altLang="en-US" sz="1400" dirty="0"/>
              <a:t> and retrieves a readable analysis report.</a:t>
            </a:r>
            <a:endParaRPr kumimoji="0" lang="en-US" altLang="en-US" sz="140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99129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6643-024F-47AB-7FE6-EEEAFB04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B10412-9F9F-10CF-681F-3722A987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426" y="233644"/>
            <a:ext cx="6617044" cy="734703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Monai 3D UNET Segmentation Metrics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546526-1280-6E0C-EC16-2E55EE4BF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693" y="5473145"/>
            <a:ext cx="1542414" cy="5582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431B4FC-6363-E964-B38F-E2B1383037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0286256"/>
                  </p:ext>
                </p:extLst>
              </p:nvPr>
            </p:nvGraphicFramePr>
            <p:xfrm>
              <a:off x="143555" y="891995"/>
              <a:ext cx="7940660" cy="4209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02000">
                      <a:extLst>
                        <a:ext uri="{9D8B030D-6E8A-4147-A177-3AD203B41FA5}">
                          <a16:colId xmlns:a16="http://schemas.microsoft.com/office/drawing/2014/main" val="2582254651"/>
                        </a:ext>
                      </a:extLst>
                    </a:gridCol>
                    <a:gridCol w="4638660">
                      <a:extLst>
                        <a:ext uri="{9D8B030D-6E8A-4147-A177-3AD203B41FA5}">
                          <a16:colId xmlns:a16="http://schemas.microsoft.com/office/drawing/2014/main" val="1943090721"/>
                        </a:ext>
                      </a:extLst>
                    </a:gridCol>
                  </a:tblGrid>
                  <a:tr h="458115"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Short description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53686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𝐷𝑖𝑐𝑒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altLang="en-US" sz="1400" b="1" i="0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kumimoji="0" lang="en-US" altLang="en-US" sz="1400" b="1" i="0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𝒈𝒕𝑽𝒐𝒍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∩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𝒑𝒓𝒆𝒅𝑽𝒐𝒍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altLang="en-US" sz="14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en-US" sz="14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𝒈𝒕𝑽𝒐𝒍</m:t>
                                        </m:r>
                                      </m:e>
                                    </m:d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+|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𝒑𝒓𝒆𝒅𝑽𝒐𝒍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1400" b="0" i="0" u="none" strike="noStrike" cap="none" normalizeH="0" baseline="0" dirty="0">
                              <a:ln>
                                <a:noFill/>
                              </a:ln>
                              <a:effectLst/>
                              <a:latin typeface="Arial" panose="020B0604020202020204" pitchFamily="34" charset="0"/>
                            </a:rPr>
                            <a:t>Measures similarity between ground truth &amp; predicted volumes; 0-1(identical)</a:t>
                          </a:r>
                          <a:endParaRPr lang="en-US" sz="1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04796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𝐽𝑎𝑐𝑐𝑎𝑟𝑑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US" altLang="en-US" sz="1400" b="1" i="0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𝒈𝒕𝑽𝒐𝒍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∩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𝒑𝒓𝒆𝒅𝑽𝒐𝒍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altLang="en-US" sz="14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en-US" sz="14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𝒈𝒕𝑽𝒐𝒍</m:t>
                                        </m:r>
                                        <m:r>
                                          <a:rPr kumimoji="0" lang="en-US" altLang="en-US" sz="14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∪</m:t>
                                        </m:r>
                                        <m:r>
                                          <a:rPr kumimoji="0" lang="en-US" altLang="en-US" sz="14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0" lang="en-US" altLang="en-US" sz="14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𝒑𝒓𝒆𝒅𝑽𝒐𝒍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Ratio of intersection to union, 0 – 1, stricter than Dice.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99728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0" lang="en-US" altLang="en-US" sz="1400" b="0" i="1" u="none" strike="noStrike" cap="none" normalizeH="0" baseline="0" dirty="0">
                              <a:ln>
                                <a:noFill/>
                              </a:ln>
                              <a:effectLst/>
                              <a:latin typeface="+mn-lt"/>
                            </a:rPr>
                            <a:t>Precision</a:t>
                          </a:r>
                          <a:endParaRPr lang="en-US" sz="1400" b="0" i="1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High when few false positives.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14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i="1" dirty="0"/>
                            <a:t>Recall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High when few false negatives.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74114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i="1" dirty="0"/>
                            <a:t>F1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1400" b="0" i="0" u="none" strike="noStrike" cap="none" normalizeH="0" baseline="0" dirty="0">
                              <a:ln>
                                <a:noFill/>
                              </a:ln>
                              <a:effectLst/>
                              <a:latin typeface="+mn-lt"/>
                            </a:rPr>
                            <a:t>FP vs FN trade-off.</a:t>
                          </a:r>
                          <a:endParaRPr lang="en-US" sz="14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55922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𝑅𝑉𝐷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𝒑𝒓𝒆𝒅𝑽𝒐𝒍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|−|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𝒈𝒕𝑽𝒐𝒍</m:t>
                                    </m:r>
                                    <m:r>
                                      <a:rPr kumimoji="0" lang="en-US" altLang="en-US" sz="14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| 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en-US" altLang="en-US" sz="14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en-US" altLang="en-US" sz="14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𝒈𝒕𝑽𝒐𝒍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14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Positive when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0" lang="en-US" altLang="en-US" sz="1400" b="1" i="1" u="none" strike="noStrike" cap="none" normalizeH="0" baseline="0" smtClean="0">
                                      <a:ln>
                                        <a:noFill/>
                                      </a:ln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en-US" sz="1400" b="1" i="1" u="none" strike="noStrike" cap="none" normalizeH="0" baseline="0" smtClean="0">
                                      <a:ln>
                                        <a:noFill/>
                                      </a:ln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𝒑𝒓𝒆𝒅𝑽𝒐𝒍</m:t>
                                  </m:r>
                                </m:e>
                              </m:d>
                              <m:r>
                                <a:rPr kumimoji="0" lang="en-US" altLang="en-US" sz="1400" b="1" i="1" u="none" strike="noStrike" cap="none" normalizeH="0" baseline="0" smtClean="0">
                                  <a:ln>
                                    <a:noFill/>
                                  </a:ln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&gt;|</m:t>
                              </m:r>
                              <m:r>
                                <a:rPr kumimoji="0" lang="en-US" altLang="en-US" sz="1400" b="1" i="1" u="none" strike="noStrike" cap="none" normalizeH="0" baseline="0" smtClean="0">
                                  <a:ln>
                                    <a:noFill/>
                                  </a:ln>
                                  <a:effectLst/>
                                  <a:latin typeface="Cambria Math" panose="02040503050406030204" pitchFamily="18" charset="0"/>
                                </a:rPr>
                                <m:t>𝒈𝒕𝑽𝒐𝒍</m:t>
                              </m:r>
                              <m:r>
                                <a:rPr kumimoji="0" lang="en-US" altLang="en-US" sz="1400" b="1" i="1" u="none" strike="noStrike" cap="none" normalizeH="0" baseline="0" smtClean="0">
                                  <a:ln>
                                    <a:noFill/>
                                  </a:ln>
                                  <a:effectLst/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</m:oMath>
                          </a14:m>
                          <a:r>
                            <a:rPr lang="en-US" sz="1400" dirty="0"/>
                            <a:t>, 0-ideal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9335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n-US" sz="1400" i="1" dirty="0" err="1">
                              <a:latin typeface="+mn-lt"/>
                            </a:rPr>
                            <a:t>Hausdorff</a:t>
                          </a:r>
                          <a:r>
                            <a:rPr lang="en-US" sz="1400" i="1" dirty="0">
                              <a:latin typeface="+mn-lt"/>
                            </a:rPr>
                            <a:t> Distance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+mn-lt"/>
                            </a:rPr>
                            <a:t>The maximum surface-to-surface error, captures the worst‐case boundary mismatch.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145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n-US" sz="1400" i="1" dirty="0"/>
                            <a:t>HD95 (95th-Percentile </a:t>
                          </a:r>
                          <a:r>
                            <a:rPr lang="en-US" sz="1400" i="1" dirty="0" err="1"/>
                            <a:t>Hausdorff</a:t>
                          </a:r>
                          <a:r>
                            <a:rPr lang="en-US" sz="1400" i="1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95th percentile of all point‐to‐surface distances instead of the maximum, reduces sensitivity to outliers.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1425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431B4FC-6363-E964-B38F-E2B1383037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0286256"/>
                  </p:ext>
                </p:extLst>
              </p:nvPr>
            </p:nvGraphicFramePr>
            <p:xfrm>
              <a:off x="143555" y="891995"/>
              <a:ext cx="7940660" cy="4209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02000">
                      <a:extLst>
                        <a:ext uri="{9D8B030D-6E8A-4147-A177-3AD203B41FA5}">
                          <a16:colId xmlns:a16="http://schemas.microsoft.com/office/drawing/2014/main" val="2582254651"/>
                        </a:ext>
                      </a:extLst>
                    </a:gridCol>
                    <a:gridCol w="4638660">
                      <a:extLst>
                        <a:ext uri="{9D8B030D-6E8A-4147-A177-3AD203B41FA5}">
                          <a16:colId xmlns:a16="http://schemas.microsoft.com/office/drawing/2014/main" val="1943090721"/>
                        </a:ext>
                      </a:extLst>
                    </a:gridCol>
                  </a:tblGrid>
                  <a:tr h="458115"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Short description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5368645"/>
                      </a:ext>
                    </a:extLst>
                  </a:tr>
                  <a:tr h="5340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5" t="-90909" r="-141328" b="-6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1400" b="0" i="0" u="none" strike="noStrike" cap="none" normalizeH="0" baseline="0" dirty="0">
                              <a:ln>
                                <a:noFill/>
                              </a:ln>
                              <a:effectLst/>
                              <a:latin typeface="Arial" panose="020B0604020202020204" pitchFamily="34" charset="0"/>
                            </a:rPr>
                            <a:t>Measures similarity between ground truth &amp; predicted volumes; 0-1(identical)</a:t>
                          </a:r>
                          <a:endParaRPr lang="en-US" sz="1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0479681"/>
                      </a:ext>
                    </a:extLst>
                  </a:tr>
                  <a:tr h="5340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5" t="-190909" r="-141328" b="-5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Ratio of intersection to union, 0 – 1, stricter than Dice.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99728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0" lang="en-US" altLang="en-US" sz="1400" b="0" i="1" u="none" strike="noStrike" cap="none" normalizeH="0" baseline="0" dirty="0">
                              <a:ln>
                                <a:noFill/>
                              </a:ln>
                              <a:effectLst/>
                              <a:latin typeface="+mn-lt"/>
                            </a:rPr>
                            <a:t>Precision</a:t>
                          </a:r>
                          <a:endParaRPr lang="en-US" sz="1400" b="0" i="1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High when few false positives.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514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i="1" dirty="0"/>
                            <a:t>Recall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High when few false negatives.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74114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i="1" dirty="0"/>
                            <a:t>F1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en-US" sz="1400" b="0" i="0" u="none" strike="noStrike" cap="none" normalizeH="0" baseline="0" dirty="0">
                              <a:ln>
                                <a:noFill/>
                              </a:ln>
                              <a:effectLst/>
                              <a:latin typeface="+mn-lt"/>
                            </a:rPr>
                            <a:t>FP vs FN trade-off.</a:t>
                          </a:r>
                          <a:endParaRPr lang="en-US" sz="14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5592243"/>
                      </a:ext>
                    </a:extLst>
                  </a:tr>
                  <a:tr h="5340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85" t="-497727" r="-141328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1260" t="-497727" r="-525" b="-2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933586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n-US" sz="1400" i="1" dirty="0" err="1">
                              <a:latin typeface="+mn-lt"/>
                            </a:rPr>
                            <a:t>Hausdorff</a:t>
                          </a:r>
                          <a:r>
                            <a:rPr lang="en-US" sz="1400" i="1" dirty="0">
                              <a:latin typeface="+mn-lt"/>
                            </a:rPr>
                            <a:t> Distance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+mn-lt"/>
                            </a:rPr>
                            <a:t>The maximum surface-to-surface error, captures the worst‐case boundary mismatch.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14562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n-US" sz="1400" i="1" dirty="0"/>
                            <a:t>HD95 (95th-Percentile </a:t>
                          </a:r>
                          <a:r>
                            <a:rPr lang="en-US" sz="1400" i="1" dirty="0" err="1"/>
                            <a:t>Hausdorff</a:t>
                          </a:r>
                          <a:r>
                            <a:rPr lang="en-US" sz="1400" i="1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95th percentile of all point‐to‐surface distances instead of the maximum, reduces sensitivity to outliers.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14250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49391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F4E31-712F-1E99-6116-07869F9C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9B85C4-875E-1C25-D236-0B714C99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540" y="433880"/>
            <a:ext cx="6158929" cy="734703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3D UNET GBM Auto Segmentation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615EF-6047-DBC0-E272-1000D761164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02875" y="1762059"/>
            <a:ext cx="8892495" cy="13849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</a:rPr>
              <a:t>Next steps: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 Continue investigation on unsupervised strategies &amp; models.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u="none" strike="noStrike" cap="none" normalizeH="0" baseline="0" dirty="0">
              <a:ln>
                <a:noFill/>
              </a:ln>
              <a:effectLst/>
            </a:endParaRP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/>
              <a:t> Continue development &amp; productization with 3D UNET automatic segmentation.</a:t>
            </a:r>
          </a:p>
          <a:p>
            <a:pPr marL="400050" lvl="1" indent="0" algn="l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9667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42A22C-2BAB-1E22-C93D-27B084757B1E}"/>
              </a:ext>
            </a:extLst>
          </p:cNvPr>
          <p:cNvSpPr txBox="1"/>
          <p:nvPr/>
        </p:nvSpPr>
        <p:spPr>
          <a:xfrm>
            <a:off x="3350360" y="2419045"/>
            <a:ext cx="26555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dirty="0">
                <a:solidFill>
                  <a:schemeClr val="bg1"/>
                </a:solidFill>
              </a:rPr>
              <a:t>This is just the beginning…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DB5B3-8A2C-5392-D223-A771CAE9C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510" y="128470"/>
            <a:ext cx="993515" cy="114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38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C5A846-A07A-B73F-037F-4A437700A420}"/>
              </a:ext>
            </a:extLst>
          </p:cNvPr>
          <p:cNvSpPr/>
          <p:nvPr/>
        </p:nvSpPr>
        <p:spPr>
          <a:xfrm>
            <a:off x="555881" y="281175"/>
            <a:ext cx="152705" cy="763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1D3B30-089B-FC10-A0D4-2883D800127C}"/>
              </a:ext>
            </a:extLst>
          </p:cNvPr>
          <p:cNvSpPr/>
          <p:nvPr/>
        </p:nvSpPr>
        <p:spPr>
          <a:xfrm>
            <a:off x="861291" y="281174"/>
            <a:ext cx="152705" cy="763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FF4C37-4E4C-6CF7-28EB-519A83AE8370}"/>
              </a:ext>
            </a:extLst>
          </p:cNvPr>
          <p:cNvSpPr/>
          <p:nvPr/>
        </p:nvSpPr>
        <p:spPr>
          <a:xfrm>
            <a:off x="1184670" y="281174"/>
            <a:ext cx="152705" cy="763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1D21380-DEBE-A77B-3484-4997BB76EB14}"/>
              </a:ext>
            </a:extLst>
          </p:cNvPr>
          <p:cNvSpPr/>
          <p:nvPr/>
        </p:nvSpPr>
        <p:spPr>
          <a:xfrm>
            <a:off x="708586" y="510234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8FBA75F-E685-2ACA-E711-91A43C5A9ED6}"/>
              </a:ext>
            </a:extLst>
          </p:cNvPr>
          <p:cNvSpPr/>
          <p:nvPr/>
        </p:nvSpPr>
        <p:spPr>
          <a:xfrm>
            <a:off x="1031965" y="510234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D3C3177-A5BE-C211-F99A-23BB2341A858}"/>
              </a:ext>
            </a:extLst>
          </p:cNvPr>
          <p:cNvSpPr/>
          <p:nvPr/>
        </p:nvSpPr>
        <p:spPr>
          <a:xfrm>
            <a:off x="1188700" y="1273761"/>
            <a:ext cx="152705" cy="76352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489994-0B89-4A8E-FD13-EC996B764679}"/>
              </a:ext>
            </a:extLst>
          </p:cNvPr>
          <p:cNvSpPr/>
          <p:nvPr/>
        </p:nvSpPr>
        <p:spPr>
          <a:xfrm>
            <a:off x="1494110" y="1273760"/>
            <a:ext cx="152705" cy="76352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EEB8EC-3946-2927-C5CE-66C52E36A1C3}"/>
              </a:ext>
            </a:extLst>
          </p:cNvPr>
          <p:cNvSpPr/>
          <p:nvPr/>
        </p:nvSpPr>
        <p:spPr>
          <a:xfrm>
            <a:off x="1817489" y="1273760"/>
            <a:ext cx="152705" cy="76352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FA106E2A-3070-6FFC-1449-C469677777F0}"/>
              </a:ext>
            </a:extLst>
          </p:cNvPr>
          <p:cNvSpPr/>
          <p:nvPr/>
        </p:nvSpPr>
        <p:spPr>
          <a:xfrm>
            <a:off x="1341405" y="1502820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E2B400A4-504B-56E0-08A4-7ED2E50EE770}"/>
              </a:ext>
            </a:extLst>
          </p:cNvPr>
          <p:cNvSpPr/>
          <p:nvPr/>
        </p:nvSpPr>
        <p:spPr>
          <a:xfrm>
            <a:off x="1664784" y="1502820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788C829-5963-9E3F-84E0-CE9738312346}"/>
              </a:ext>
            </a:extLst>
          </p:cNvPr>
          <p:cNvSpPr/>
          <p:nvPr/>
        </p:nvSpPr>
        <p:spPr>
          <a:xfrm>
            <a:off x="1818755" y="2278120"/>
            <a:ext cx="152705" cy="7635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DBED82-06EF-C0CB-EBF1-2B5AB9C00F64}"/>
              </a:ext>
            </a:extLst>
          </p:cNvPr>
          <p:cNvSpPr/>
          <p:nvPr/>
        </p:nvSpPr>
        <p:spPr>
          <a:xfrm>
            <a:off x="2124165" y="2278119"/>
            <a:ext cx="152705" cy="7635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5094C0-3BC8-94E2-7B67-874269D62229}"/>
              </a:ext>
            </a:extLst>
          </p:cNvPr>
          <p:cNvSpPr/>
          <p:nvPr/>
        </p:nvSpPr>
        <p:spPr>
          <a:xfrm>
            <a:off x="2447544" y="2278119"/>
            <a:ext cx="152705" cy="7635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B18EAB8D-9DFE-5399-3BDC-D2B5CC09CE3D}"/>
              </a:ext>
            </a:extLst>
          </p:cNvPr>
          <p:cNvSpPr/>
          <p:nvPr/>
        </p:nvSpPr>
        <p:spPr>
          <a:xfrm>
            <a:off x="1971460" y="2507179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1956A59F-C813-CA88-B8B2-2C91F803E5F5}"/>
              </a:ext>
            </a:extLst>
          </p:cNvPr>
          <p:cNvSpPr/>
          <p:nvPr/>
        </p:nvSpPr>
        <p:spPr>
          <a:xfrm>
            <a:off x="2294839" y="2507179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551EB4-AF38-FCC0-8932-46EDE98247F1}"/>
              </a:ext>
            </a:extLst>
          </p:cNvPr>
          <p:cNvSpPr/>
          <p:nvPr/>
        </p:nvSpPr>
        <p:spPr>
          <a:xfrm>
            <a:off x="2439912" y="3270705"/>
            <a:ext cx="152705" cy="7635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D5EE72F-D13E-1313-E730-8187B0277C0F}"/>
              </a:ext>
            </a:extLst>
          </p:cNvPr>
          <p:cNvSpPr/>
          <p:nvPr/>
        </p:nvSpPr>
        <p:spPr>
          <a:xfrm>
            <a:off x="2745322" y="3270704"/>
            <a:ext cx="152705" cy="7635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EFA3EB1-8223-9FBA-3E73-29045C07EBBB}"/>
              </a:ext>
            </a:extLst>
          </p:cNvPr>
          <p:cNvSpPr/>
          <p:nvPr/>
        </p:nvSpPr>
        <p:spPr>
          <a:xfrm>
            <a:off x="3068701" y="3270704"/>
            <a:ext cx="152705" cy="7635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FDCA5B45-2A99-CA70-C162-BD1CD26FCE7A}"/>
              </a:ext>
            </a:extLst>
          </p:cNvPr>
          <p:cNvSpPr/>
          <p:nvPr/>
        </p:nvSpPr>
        <p:spPr>
          <a:xfrm>
            <a:off x="2592617" y="3499764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55613E8D-07C4-2CC4-4B65-3DDDF0F56C8F}"/>
              </a:ext>
            </a:extLst>
          </p:cNvPr>
          <p:cNvSpPr/>
          <p:nvPr/>
        </p:nvSpPr>
        <p:spPr>
          <a:xfrm>
            <a:off x="2915996" y="3499764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7EAAF43-A559-8333-B8B1-9E0BF1F6434F}"/>
              </a:ext>
            </a:extLst>
          </p:cNvPr>
          <p:cNvSpPr/>
          <p:nvPr/>
        </p:nvSpPr>
        <p:spPr>
          <a:xfrm>
            <a:off x="3479275" y="4323141"/>
            <a:ext cx="305410" cy="52299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01C034-1AF9-6E36-1AD3-0AFF668FF4FC}"/>
              </a:ext>
            </a:extLst>
          </p:cNvPr>
          <p:cNvSpPr/>
          <p:nvPr/>
        </p:nvSpPr>
        <p:spPr>
          <a:xfrm>
            <a:off x="4027331" y="4320931"/>
            <a:ext cx="305410" cy="52299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FB8117-F905-87CC-16A7-C22C822442B7}"/>
              </a:ext>
            </a:extLst>
          </p:cNvPr>
          <p:cNvSpPr/>
          <p:nvPr/>
        </p:nvSpPr>
        <p:spPr>
          <a:xfrm>
            <a:off x="4575387" y="4320931"/>
            <a:ext cx="305410" cy="52299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E666AFF3-EFF0-05B0-EF0E-F13231274066}"/>
              </a:ext>
            </a:extLst>
          </p:cNvPr>
          <p:cNvSpPr/>
          <p:nvPr/>
        </p:nvSpPr>
        <p:spPr>
          <a:xfrm>
            <a:off x="4332741" y="4467900"/>
            <a:ext cx="242646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EFED0FE0-70BB-3E0A-26AA-622E726CC9F5}"/>
              </a:ext>
            </a:extLst>
          </p:cNvPr>
          <p:cNvSpPr/>
          <p:nvPr/>
        </p:nvSpPr>
        <p:spPr>
          <a:xfrm>
            <a:off x="3784685" y="4467900"/>
            <a:ext cx="242646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BE7EBC2-8FA5-B94D-EFFF-62EE6FB5C39A}"/>
              </a:ext>
            </a:extLst>
          </p:cNvPr>
          <p:cNvSpPr/>
          <p:nvPr/>
        </p:nvSpPr>
        <p:spPr>
          <a:xfrm>
            <a:off x="6903029" y="281175"/>
            <a:ext cx="152705" cy="763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EDE1077-210F-50C0-065E-136A0EA63E98}"/>
              </a:ext>
            </a:extLst>
          </p:cNvPr>
          <p:cNvSpPr/>
          <p:nvPr/>
        </p:nvSpPr>
        <p:spPr>
          <a:xfrm>
            <a:off x="7208439" y="281174"/>
            <a:ext cx="152705" cy="763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B1A914B-ED1E-1415-14C8-56DA76A21E70}"/>
              </a:ext>
            </a:extLst>
          </p:cNvPr>
          <p:cNvSpPr/>
          <p:nvPr/>
        </p:nvSpPr>
        <p:spPr>
          <a:xfrm>
            <a:off x="7531818" y="281174"/>
            <a:ext cx="152705" cy="763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21F2DD21-05AE-C40B-9890-8AEB1E86CE1D}"/>
              </a:ext>
            </a:extLst>
          </p:cNvPr>
          <p:cNvSpPr/>
          <p:nvPr/>
        </p:nvSpPr>
        <p:spPr>
          <a:xfrm>
            <a:off x="7055734" y="510234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73E837C5-9288-2B7D-0E5B-46C1675E40C8}"/>
              </a:ext>
            </a:extLst>
          </p:cNvPr>
          <p:cNvSpPr/>
          <p:nvPr/>
        </p:nvSpPr>
        <p:spPr>
          <a:xfrm>
            <a:off x="7379113" y="510234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97DA9B8-E5A1-65B4-E79B-AE1992E96ED1}"/>
              </a:ext>
            </a:extLst>
          </p:cNvPr>
          <p:cNvSpPr/>
          <p:nvPr/>
        </p:nvSpPr>
        <p:spPr>
          <a:xfrm>
            <a:off x="6274240" y="1273760"/>
            <a:ext cx="152705" cy="76352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2B9D68D-323E-A246-5D95-7CF9E7AD672D}"/>
              </a:ext>
            </a:extLst>
          </p:cNvPr>
          <p:cNvSpPr/>
          <p:nvPr/>
        </p:nvSpPr>
        <p:spPr>
          <a:xfrm>
            <a:off x="6579650" y="1273759"/>
            <a:ext cx="152705" cy="76352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2F28B31-401C-CD34-D902-4F8863BD7829}"/>
              </a:ext>
            </a:extLst>
          </p:cNvPr>
          <p:cNvSpPr/>
          <p:nvPr/>
        </p:nvSpPr>
        <p:spPr>
          <a:xfrm>
            <a:off x="6903029" y="1273759"/>
            <a:ext cx="152705" cy="76352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DFDE0EBC-A586-33CC-CCF6-47814FEB56AF}"/>
              </a:ext>
            </a:extLst>
          </p:cNvPr>
          <p:cNvSpPr/>
          <p:nvPr/>
        </p:nvSpPr>
        <p:spPr>
          <a:xfrm>
            <a:off x="6426945" y="1502819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0BD53393-1C1B-5183-5616-A57D711319B7}"/>
              </a:ext>
            </a:extLst>
          </p:cNvPr>
          <p:cNvSpPr/>
          <p:nvPr/>
        </p:nvSpPr>
        <p:spPr>
          <a:xfrm>
            <a:off x="6750324" y="1502819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63D0EC2-F89C-3BF7-6828-A6DC83904F48}"/>
              </a:ext>
            </a:extLst>
          </p:cNvPr>
          <p:cNvSpPr/>
          <p:nvPr/>
        </p:nvSpPr>
        <p:spPr>
          <a:xfrm>
            <a:off x="5645451" y="2278119"/>
            <a:ext cx="152705" cy="7635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FAE878A-57D2-5163-1BE3-3FC4F188F96F}"/>
              </a:ext>
            </a:extLst>
          </p:cNvPr>
          <p:cNvSpPr/>
          <p:nvPr/>
        </p:nvSpPr>
        <p:spPr>
          <a:xfrm>
            <a:off x="5950861" y="2278118"/>
            <a:ext cx="152705" cy="7635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02ADA22-2BDA-093F-3970-CE5CF944E10D}"/>
              </a:ext>
            </a:extLst>
          </p:cNvPr>
          <p:cNvSpPr/>
          <p:nvPr/>
        </p:nvSpPr>
        <p:spPr>
          <a:xfrm>
            <a:off x="6274240" y="2278118"/>
            <a:ext cx="152705" cy="7635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D36CAF5-763E-1690-1BBB-262380E3D9DC}"/>
              </a:ext>
            </a:extLst>
          </p:cNvPr>
          <p:cNvSpPr/>
          <p:nvPr/>
        </p:nvSpPr>
        <p:spPr>
          <a:xfrm>
            <a:off x="5798156" y="2507178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F3FEB48F-1CA0-DD7E-D0BB-5483E5889F8B}"/>
              </a:ext>
            </a:extLst>
          </p:cNvPr>
          <p:cNvSpPr/>
          <p:nvPr/>
        </p:nvSpPr>
        <p:spPr>
          <a:xfrm>
            <a:off x="6121535" y="2507178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0069AD8-8996-E603-E7BE-52C87038D306}"/>
              </a:ext>
            </a:extLst>
          </p:cNvPr>
          <p:cNvSpPr/>
          <p:nvPr/>
        </p:nvSpPr>
        <p:spPr>
          <a:xfrm>
            <a:off x="5016662" y="3270705"/>
            <a:ext cx="152705" cy="7635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E4716B2-0A3F-DADB-51A4-16AB88E6121C}"/>
              </a:ext>
            </a:extLst>
          </p:cNvPr>
          <p:cNvSpPr/>
          <p:nvPr/>
        </p:nvSpPr>
        <p:spPr>
          <a:xfrm>
            <a:off x="5322072" y="3270704"/>
            <a:ext cx="152705" cy="7635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007E252-B069-226C-1A3C-CC6936FB91B5}"/>
              </a:ext>
            </a:extLst>
          </p:cNvPr>
          <p:cNvSpPr/>
          <p:nvPr/>
        </p:nvSpPr>
        <p:spPr>
          <a:xfrm>
            <a:off x="5645451" y="3270704"/>
            <a:ext cx="152705" cy="7635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8C6178F4-CE6B-CC1D-2A0A-A6066B414589}"/>
              </a:ext>
            </a:extLst>
          </p:cNvPr>
          <p:cNvSpPr/>
          <p:nvPr/>
        </p:nvSpPr>
        <p:spPr>
          <a:xfrm>
            <a:off x="5169367" y="3499764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722927C8-2D5E-87CC-9C43-3D0E2301036F}"/>
              </a:ext>
            </a:extLst>
          </p:cNvPr>
          <p:cNvSpPr/>
          <p:nvPr/>
        </p:nvSpPr>
        <p:spPr>
          <a:xfrm>
            <a:off x="5492746" y="3499764"/>
            <a:ext cx="152705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D3F051B-FF9B-4788-BD4E-AAAEE7B676AE}"/>
              </a:ext>
            </a:extLst>
          </p:cNvPr>
          <p:cNvSpPr/>
          <p:nvPr/>
        </p:nvSpPr>
        <p:spPr>
          <a:xfrm>
            <a:off x="8084215" y="281173"/>
            <a:ext cx="152705" cy="763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527533-3B6E-6570-8AA8-F9EDA75B4678}"/>
              </a:ext>
            </a:extLst>
          </p:cNvPr>
          <p:cNvSpPr txBox="1"/>
          <p:nvPr/>
        </p:nvSpPr>
        <p:spPr>
          <a:xfrm>
            <a:off x="758111" y="81207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9DCB3A-E8A5-D16B-3213-AAFB48940156}"/>
              </a:ext>
            </a:extLst>
          </p:cNvPr>
          <p:cNvSpPr txBox="1"/>
          <p:nvPr/>
        </p:nvSpPr>
        <p:spPr>
          <a:xfrm>
            <a:off x="444925" y="81207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9B4319-CE3A-7BE9-9125-0B17E613E65C}"/>
              </a:ext>
            </a:extLst>
          </p:cNvPr>
          <p:cNvSpPr txBox="1"/>
          <p:nvPr/>
        </p:nvSpPr>
        <p:spPr>
          <a:xfrm>
            <a:off x="1398066" y="1085691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FE8286D-3014-3487-5AEF-3B7D827BD525}"/>
              </a:ext>
            </a:extLst>
          </p:cNvPr>
          <p:cNvSpPr txBox="1"/>
          <p:nvPr/>
        </p:nvSpPr>
        <p:spPr>
          <a:xfrm>
            <a:off x="1750120" y="1085691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9991536-F537-0416-63EC-67BC259848B5}"/>
              </a:ext>
            </a:extLst>
          </p:cNvPr>
          <p:cNvSpPr txBox="1"/>
          <p:nvPr/>
        </p:nvSpPr>
        <p:spPr>
          <a:xfrm>
            <a:off x="2035772" y="2078658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64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1E8AC41-A425-2D6B-D8DD-B089760D0C94}"/>
              </a:ext>
            </a:extLst>
          </p:cNvPr>
          <p:cNvSpPr txBox="1"/>
          <p:nvPr/>
        </p:nvSpPr>
        <p:spPr>
          <a:xfrm>
            <a:off x="2651293" y="3071243"/>
            <a:ext cx="41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128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9710F91-7811-C6CB-55C2-0248C88EB4BB}"/>
              </a:ext>
            </a:extLst>
          </p:cNvPr>
          <p:cNvSpPr txBox="1"/>
          <p:nvPr/>
        </p:nvSpPr>
        <p:spPr>
          <a:xfrm>
            <a:off x="3423276" y="4129621"/>
            <a:ext cx="41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256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72B9250-FA40-AE29-337C-019C05F60F06}"/>
              </a:ext>
            </a:extLst>
          </p:cNvPr>
          <p:cNvSpPr txBox="1"/>
          <p:nvPr/>
        </p:nvSpPr>
        <p:spPr>
          <a:xfrm>
            <a:off x="3984399" y="4121789"/>
            <a:ext cx="41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256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2EE64AD-0D47-25D3-3573-525ACA79712D}"/>
              </a:ext>
            </a:extLst>
          </p:cNvPr>
          <p:cNvSpPr txBox="1"/>
          <p:nvPr/>
        </p:nvSpPr>
        <p:spPr>
          <a:xfrm>
            <a:off x="4540958" y="4103478"/>
            <a:ext cx="41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256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06BCF64-3B78-8041-668F-1C1728A4C9B0}"/>
              </a:ext>
            </a:extLst>
          </p:cNvPr>
          <p:cNvSpPr txBox="1"/>
          <p:nvPr/>
        </p:nvSpPr>
        <p:spPr>
          <a:xfrm>
            <a:off x="2954026" y="3081604"/>
            <a:ext cx="41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128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CE0C739-8F67-4915-ACD7-C12D7A637E73}"/>
              </a:ext>
            </a:extLst>
          </p:cNvPr>
          <p:cNvSpPr txBox="1"/>
          <p:nvPr/>
        </p:nvSpPr>
        <p:spPr>
          <a:xfrm>
            <a:off x="2365263" y="2092053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64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C190012-27D1-A1AC-F09E-DCA5191CCB7E}"/>
              </a:ext>
            </a:extLst>
          </p:cNvPr>
          <p:cNvSpPr txBox="1"/>
          <p:nvPr/>
        </p:nvSpPr>
        <p:spPr>
          <a:xfrm>
            <a:off x="5886034" y="2078657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64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6AE6DCF-1D8B-3E48-C041-30E68CF8416F}"/>
              </a:ext>
            </a:extLst>
          </p:cNvPr>
          <p:cNvSpPr txBox="1"/>
          <p:nvPr/>
        </p:nvSpPr>
        <p:spPr>
          <a:xfrm>
            <a:off x="6321916" y="2092053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64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EFD0695-3EC2-F766-FB12-627C8C126543}"/>
              </a:ext>
            </a:extLst>
          </p:cNvPr>
          <p:cNvSpPr txBox="1"/>
          <p:nvPr/>
        </p:nvSpPr>
        <p:spPr>
          <a:xfrm>
            <a:off x="5704127" y="3081604"/>
            <a:ext cx="41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128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CB960A8-1565-9433-8D4D-47D94C9E36A5}"/>
              </a:ext>
            </a:extLst>
          </p:cNvPr>
          <p:cNvSpPr txBox="1"/>
          <p:nvPr/>
        </p:nvSpPr>
        <p:spPr>
          <a:xfrm>
            <a:off x="6506402" y="1095879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7CA3DDA-56A5-B5EB-FBE5-AEE416438A05}"/>
              </a:ext>
            </a:extLst>
          </p:cNvPr>
          <p:cNvSpPr txBox="1"/>
          <p:nvPr/>
        </p:nvSpPr>
        <p:spPr>
          <a:xfrm>
            <a:off x="6977044" y="1085691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773FFB0-9948-4539-664A-EE9776BE5D53}"/>
              </a:ext>
            </a:extLst>
          </p:cNvPr>
          <p:cNvSpPr txBox="1"/>
          <p:nvPr/>
        </p:nvSpPr>
        <p:spPr>
          <a:xfrm>
            <a:off x="7119530" y="67546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D439D79-BC17-BC48-F496-2AA431EDB8CA}"/>
              </a:ext>
            </a:extLst>
          </p:cNvPr>
          <p:cNvSpPr txBox="1"/>
          <p:nvPr/>
        </p:nvSpPr>
        <p:spPr>
          <a:xfrm>
            <a:off x="7448049" y="74376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A773265-D555-5193-080F-13E6C48272F4}"/>
              </a:ext>
            </a:extLst>
          </p:cNvPr>
          <p:cNvSpPr txBox="1"/>
          <p:nvPr/>
        </p:nvSpPr>
        <p:spPr>
          <a:xfrm>
            <a:off x="8075677" y="81206"/>
            <a:ext cx="362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</a:t>
            </a:r>
          </a:p>
        </p:txBody>
      </p:sp>
      <p:sp>
        <p:nvSpPr>
          <p:cNvPr id="103" name="Arrow: Right 102">
            <a:extLst>
              <a:ext uri="{FF2B5EF4-FFF2-40B4-BE49-F238E27FC236}">
                <a16:creationId xmlns:a16="http://schemas.microsoft.com/office/drawing/2014/main" id="{D7888A9B-0A32-F2D8-F72A-0E49D8962D21}"/>
              </a:ext>
            </a:extLst>
          </p:cNvPr>
          <p:cNvSpPr/>
          <p:nvPr/>
        </p:nvSpPr>
        <p:spPr>
          <a:xfrm>
            <a:off x="7692252" y="510234"/>
            <a:ext cx="362762" cy="229056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7598013-A366-36E8-45EF-2ACD71F2B6BA}"/>
              </a:ext>
            </a:extLst>
          </p:cNvPr>
          <p:cNvSpPr txBox="1"/>
          <p:nvPr/>
        </p:nvSpPr>
        <p:spPr>
          <a:xfrm>
            <a:off x="5212566" y="3063774"/>
            <a:ext cx="417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128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6C79A9E-EF64-CD76-3E81-E4380C04C18A}"/>
              </a:ext>
            </a:extLst>
          </p:cNvPr>
          <p:cNvSpPr/>
          <p:nvPr/>
        </p:nvSpPr>
        <p:spPr>
          <a:xfrm>
            <a:off x="4871140" y="3270703"/>
            <a:ext cx="152705" cy="763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5A010DD-A32C-FF61-965B-3F6680B2B15E}"/>
              </a:ext>
            </a:extLst>
          </p:cNvPr>
          <p:cNvSpPr/>
          <p:nvPr/>
        </p:nvSpPr>
        <p:spPr>
          <a:xfrm>
            <a:off x="5476334" y="2278118"/>
            <a:ext cx="152705" cy="763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3345414-72EC-C2E1-9168-D0C09E55EF9B}"/>
              </a:ext>
            </a:extLst>
          </p:cNvPr>
          <p:cNvSpPr/>
          <p:nvPr/>
        </p:nvSpPr>
        <p:spPr>
          <a:xfrm>
            <a:off x="6104602" y="1270741"/>
            <a:ext cx="152705" cy="763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CDB519D-106E-EF0C-3328-713056F1406A}"/>
              </a:ext>
            </a:extLst>
          </p:cNvPr>
          <p:cNvSpPr/>
          <p:nvPr/>
        </p:nvSpPr>
        <p:spPr>
          <a:xfrm>
            <a:off x="6741340" y="281173"/>
            <a:ext cx="152705" cy="763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5CF9A0C-69A5-D209-7578-F7CDE058A168}"/>
              </a:ext>
            </a:extLst>
          </p:cNvPr>
          <p:cNvCxnSpPr>
            <a:stCxn id="7" idx="2"/>
            <a:endCxn id="38" idx="0"/>
          </p:cNvCxnSpPr>
          <p:nvPr/>
        </p:nvCxnSpPr>
        <p:spPr>
          <a:xfrm>
            <a:off x="1261023" y="1044699"/>
            <a:ext cx="4030" cy="229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073B57E-EE8A-AAFB-640A-99643FC14F49}"/>
              </a:ext>
            </a:extLst>
          </p:cNvPr>
          <p:cNvCxnSpPr>
            <a:cxnSpLocks/>
          </p:cNvCxnSpPr>
          <p:nvPr/>
        </p:nvCxnSpPr>
        <p:spPr>
          <a:xfrm>
            <a:off x="8416802" y="4251505"/>
            <a:ext cx="4309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72893425-625F-B8E7-AEAB-DA12E06334E9}"/>
              </a:ext>
            </a:extLst>
          </p:cNvPr>
          <p:cNvCxnSpPr/>
          <p:nvPr/>
        </p:nvCxnSpPr>
        <p:spPr>
          <a:xfrm>
            <a:off x="1887124" y="2064147"/>
            <a:ext cx="4030" cy="229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1B669E1-965A-9443-031F-A3A5073D9441}"/>
              </a:ext>
            </a:extLst>
          </p:cNvPr>
          <p:cNvCxnSpPr/>
          <p:nvPr/>
        </p:nvCxnSpPr>
        <p:spPr>
          <a:xfrm>
            <a:off x="2508867" y="3027198"/>
            <a:ext cx="4030" cy="229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E3CFC0C-6D17-ABB3-CFBE-DA2B66E35F4E}"/>
              </a:ext>
            </a:extLst>
          </p:cNvPr>
          <p:cNvCxnSpPr>
            <a:cxnSpLocks/>
          </p:cNvCxnSpPr>
          <p:nvPr/>
        </p:nvCxnSpPr>
        <p:spPr>
          <a:xfrm>
            <a:off x="3204640" y="4062672"/>
            <a:ext cx="284121" cy="243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E3FC813-1A2D-5BDE-7D7F-BE70C38C053A}"/>
              </a:ext>
            </a:extLst>
          </p:cNvPr>
          <p:cNvCxnSpPr>
            <a:cxnSpLocks/>
          </p:cNvCxnSpPr>
          <p:nvPr/>
        </p:nvCxnSpPr>
        <p:spPr>
          <a:xfrm flipV="1">
            <a:off x="4880797" y="4041340"/>
            <a:ext cx="57020" cy="279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5EC39D5-AD16-756D-BDC9-F68839160DF5}"/>
              </a:ext>
            </a:extLst>
          </p:cNvPr>
          <p:cNvCxnSpPr>
            <a:cxnSpLocks/>
          </p:cNvCxnSpPr>
          <p:nvPr/>
        </p:nvCxnSpPr>
        <p:spPr>
          <a:xfrm>
            <a:off x="8416802" y="4520787"/>
            <a:ext cx="4309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973F9A4-EFDC-66B9-E403-3A5F9861589C}"/>
              </a:ext>
            </a:extLst>
          </p:cNvPr>
          <p:cNvCxnSpPr>
            <a:cxnSpLocks/>
            <a:stCxn id="75" idx="0"/>
          </p:cNvCxnSpPr>
          <p:nvPr/>
        </p:nvCxnSpPr>
        <p:spPr>
          <a:xfrm flipH="1" flipV="1">
            <a:off x="5704127" y="3036680"/>
            <a:ext cx="17677" cy="234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A99BB18B-2CE8-C4AA-5964-F1F1C413506D}"/>
              </a:ext>
            </a:extLst>
          </p:cNvPr>
          <p:cNvCxnSpPr>
            <a:cxnSpLocks/>
          </p:cNvCxnSpPr>
          <p:nvPr/>
        </p:nvCxnSpPr>
        <p:spPr>
          <a:xfrm flipH="1" flipV="1">
            <a:off x="6340482" y="2016737"/>
            <a:ext cx="17677" cy="234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506D80A-FE46-5AAB-FABE-38C99C0724BB}"/>
              </a:ext>
            </a:extLst>
          </p:cNvPr>
          <p:cNvCxnSpPr>
            <a:cxnSpLocks/>
          </p:cNvCxnSpPr>
          <p:nvPr/>
        </p:nvCxnSpPr>
        <p:spPr>
          <a:xfrm flipH="1" flipV="1">
            <a:off x="6970104" y="1036717"/>
            <a:ext cx="17677" cy="234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AC027B2C-1D2F-E2BE-17C3-3D70E5A32077}"/>
              </a:ext>
            </a:extLst>
          </p:cNvPr>
          <p:cNvSpPr/>
          <p:nvPr/>
        </p:nvSpPr>
        <p:spPr>
          <a:xfrm>
            <a:off x="1339595" y="724497"/>
            <a:ext cx="5383776" cy="75323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C0698845-5241-9591-73B4-7B6BFABEBB46}"/>
              </a:ext>
            </a:extLst>
          </p:cNvPr>
          <p:cNvSpPr/>
          <p:nvPr/>
        </p:nvSpPr>
        <p:spPr>
          <a:xfrm>
            <a:off x="1978155" y="1715056"/>
            <a:ext cx="4108478" cy="93169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33" name="Arrow: Right 132">
            <a:extLst>
              <a:ext uri="{FF2B5EF4-FFF2-40B4-BE49-F238E27FC236}">
                <a16:creationId xmlns:a16="http://schemas.microsoft.com/office/drawing/2014/main" id="{EE7945A5-95FC-33E9-7FE0-C3B6269BEFA4}"/>
              </a:ext>
            </a:extLst>
          </p:cNvPr>
          <p:cNvSpPr/>
          <p:nvPr/>
        </p:nvSpPr>
        <p:spPr>
          <a:xfrm>
            <a:off x="2616661" y="2736234"/>
            <a:ext cx="2858116" cy="6899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34" name="Arrow: Right 133">
            <a:extLst>
              <a:ext uri="{FF2B5EF4-FFF2-40B4-BE49-F238E27FC236}">
                <a16:creationId xmlns:a16="http://schemas.microsoft.com/office/drawing/2014/main" id="{7DA58713-4538-DBFC-3789-EB153DC7695E}"/>
              </a:ext>
            </a:extLst>
          </p:cNvPr>
          <p:cNvSpPr/>
          <p:nvPr/>
        </p:nvSpPr>
        <p:spPr>
          <a:xfrm>
            <a:off x="3239375" y="3713458"/>
            <a:ext cx="1604121" cy="7993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822D815-C9A9-7B34-2D44-2CD2E1B38D8D}"/>
              </a:ext>
            </a:extLst>
          </p:cNvPr>
          <p:cNvSpPr txBox="1"/>
          <p:nvPr/>
        </p:nvSpPr>
        <p:spPr>
          <a:xfrm>
            <a:off x="30052" y="839854"/>
            <a:ext cx="1001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Input</a:t>
            </a:r>
          </a:p>
          <a:p>
            <a:r>
              <a:rPr lang="en-US" sz="1000" dirty="0"/>
              <a:t>128x128x128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B502204-4939-104D-4A95-5889C6DAAACF}"/>
              </a:ext>
            </a:extLst>
          </p:cNvPr>
          <p:cNvSpPr txBox="1"/>
          <p:nvPr/>
        </p:nvSpPr>
        <p:spPr>
          <a:xfrm>
            <a:off x="1357600" y="371867"/>
            <a:ext cx="1151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C1 </a:t>
            </a:r>
          </a:p>
          <a:p>
            <a:r>
              <a:rPr lang="en-US" sz="1000" dirty="0"/>
              <a:t>128x128x128 x16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82E358F-5DCF-2D71-5532-AAA8248D72BB}"/>
              </a:ext>
            </a:extLst>
          </p:cNvPr>
          <p:cNvSpPr txBox="1"/>
          <p:nvPr/>
        </p:nvSpPr>
        <p:spPr>
          <a:xfrm>
            <a:off x="55995" y="1350110"/>
            <a:ext cx="1036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P1 </a:t>
            </a:r>
          </a:p>
          <a:p>
            <a:r>
              <a:rPr lang="en-US" sz="1000" dirty="0"/>
              <a:t>64x64x64 x16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CEECAB0-48C6-76E7-694F-CB912770C488}"/>
              </a:ext>
            </a:extLst>
          </p:cNvPr>
          <p:cNvSpPr txBox="1"/>
          <p:nvPr/>
        </p:nvSpPr>
        <p:spPr>
          <a:xfrm>
            <a:off x="1960821" y="1342139"/>
            <a:ext cx="9932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C2 </a:t>
            </a:r>
          </a:p>
          <a:p>
            <a:r>
              <a:rPr lang="en-US" sz="1000" dirty="0"/>
              <a:t>64x64x64 x32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1F9FD83-5F53-BC21-8E90-33FBDAFF73CB}"/>
              </a:ext>
            </a:extLst>
          </p:cNvPr>
          <p:cNvSpPr txBox="1"/>
          <p:nvPr/>
        </p:nvSpPr>
        <p:spPr>
          <a:xfrm>
            <a:off x="846751" y="2406262"/>
            <a:ext cx="1036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P2 </a:t>
            </a:r>
          </a:p>
          <a:p>
            <a:r>
              <a:rPr lang="en-US" sz="1000" dirty="0"/>
              <a:t>32x32x32 x32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0E803A1-BD9E-E1EE-67FF-49D0AB86184E}"/>
              </a:ext>
            </a:extLst>
          </p:cNvPr>
          <p:cNvSpPr txBox="1"/>
          <p:nvPr/>
        </p:nvSpPr>
        <p:spPr>
          <a:xfrm>
            <a:off x="1493362" y="3366445"/>
            <a:ext cx="1036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P3 </a:t>
            </a:r>
          </a:p>
          <a:p>
            <a:r>
              <a:rPr lang="en-US" sz="1000" dirty="0"/>
              <a:t>16x16x16 x64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BD9BF89-EAD7-9BC7-AEB2-B103E6255138}"/>
              </a:ext>
            </a:extLst>
          </p:cNvPr>
          <p:cNvSpPr txBox="1"/>
          <p:nvPr/>
        </p:nvSpPr>
        <p:spPr>
          <a:xfrm>
            <a:off x="2553457" y="4368010"/>
            <a:ext cx="1036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P4</a:t>
            </a:r>
          </a:p>
          <a:p>
            <a:r>
              <a:rPr lang="en-US" sz="1000" dirty="0"/>
              <a:t>8x8x8x128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3E6C7AB-579E-6E4E-A2AF-41DBEA73CCFB}"/>
              </a:ext>
            </a:extLst>
          </p:cNvPr>
          <p:cNvSpPr txBox="1"/>
          <p:nvPr/>
        </p:nvSpPr>
        <p:spPr>
          <a:xfrm>
            <a:off x="2610450" y="2354478"/>
            <a:ext cx="1036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C3 </a:t>
            </a:r>
          </a:p>
          <a:p>
            <a:r>
              <a:rPr lang="en-US" sz="1000" dirty="0"/>
              <a:t>32x32x32 x64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B675216-F101-3156-CF9B-E72CA58A064F}"/>
              </a:ext>
            </a:extLst>
          </p:cNvPr>
          <p:cNvSpPr txBox="1"/>
          <p:nvPr/>
        </p:nvSpPr>
        <p:spPr>
          <a:xfrm>
            <a:off x="3157732" y="3345194"/>
            <a:ext cx="1036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C4 </a:t>
            </a:r>
          </a:p>
          <a:p>
            <a:r>
              <a:rPr lang="en-US" sz="1000" dirty="0"/>
              <a:t>16x16x16 x128</a:t>
            </a:r>
          </a:p>
        </p:txBody>
      </p:sp>
      <p:sp>
        <p:nvSpPr>
          <p:cNvPr id="144" name="Arrow: Right 143">
            <a:extLst>
              <a:ext uri="{FF2B5EF4-FFF2-40B4-BE49-F238E27FC236}">
                <a16:creationId xmlns:a16="http://schemas.microsoft.com/office/drawing/2014/main" id="{5FBD7C8F-9FFF-D0DF-5830-FC3FCD9D84A5}"/>
              </a:ext>
            </a:extLst>
          </p:cNvPr>
          <p:cNvSpPr/>
          <p:nvPr/>
        </p:nvSpPr>
        <p:spPr>
          <a:xfrm rot="3423528">
            <a:off x="-57499" y="2629056"/>
            <a:ext cx="1282575" cy="355932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46" name="Arrow: Right 145">
            <a:extLst>
              <a:ext uri="{FF2B5EF4-FFF2-40B4-BE49-F238E27FC236}">
                <a16:creationId xmlns:a16="http://schemas.microsoft.com/office/drawing/2014/main" id="{669A528A-249F-BB69-A74E-C2418CF7636C}"/>
              </a:ext>
            </a:extLst>
          </p:cNvPr>
          <p:cNvSpPr/>
          <p:nvPr/>
        </p:nvSpPr>
        <p:spPr>
          <a:xfrm rot="18126914">
            <a:off x="7011169" y="2595205"/>
            <a:ext cx="1236518" cy="355932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091B324-B117-1CEF-7E82-8B7FA77E6682}"/>
              </a:ext>
            </a:extLst>
          </p:cNvPr>
          <p:cNvSpPr txBox="1"/>
          <p:nvPr/>
        </p:nvSpPr>
        <p:spPr>
          <a:xfrm>
            <a:off x="4892881" y="4349699"/>
            <a:ext cx="1036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C5 </a:t>
            </a:r>
          </a:p>
          <a:p>
            <a:r>
              <a:rPr lang="en-US" sz="1000" dirty="0"/>
              <a:t>8x8x8x256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B87460F-C245-EC05-E37B-9FCEDFC32991}"/>
              </a:ext>
            </a:extLst>
          </p:cNvPr>
          <p:cNvSpPr txBox="1"/>
          <p:nvPr/>
        </p:nvSpPr>
        <p:spPr>
          <a:xfrm>
            <a:off x="5832433" y="3427627"/>
            <a:ext cx="1036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C6</a:t>
            </a:r>
          </a:p>
          <a:p>
            <a:r>
              <a:rPr lang="en-US" sz="1000" dirty="0"/>
              <a:t>16x16x16 x128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292345D-9A96-597D-74FB-D589B8F448C1}"/>
              </a:ext>
            </a:extLst>
          </p:cNvPr>
          <p:cNvSpPr txBox="1"/>
          <p:nvPr/>
        </p:nvSpPr>
        <p:spPr>
          <a:xfrm>
            <a:off x="6426399" y="2558131"/>
            <a:ext cx="952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C7</a:t>
            </a:r>
          </a:p>
          <a:p>
            <a:r>
              <a:rPr lang="en-US" sz="1000" dirty="0"/>
              <a:t>32x32x32 x64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027A4CA-9926-310B-2679-16387FFBDF82}"/>
              </a:ext>
            </a:extLst>
          </p:cNvPr>
          <p:cNvSpPr txBox="1"/>
          <p:nvPr/>
        </p:nvSpPr>
        <p:spPr>
          <a:xfrm>
            <a:off x="7073703" y="1603379"/>
            <a:ext cx="1010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C8</a:t>
            </a:r>
          </a:p>
          <a:p>
            <a:r>
              <a:rPr lang="en-US" sz="1000" dirty="0"/>
              <a:t>64x64x64 x32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6EA4BF0-9E33-541E-3F33-9F95402CEAA2}"/>
              </a:ext>
            </a:extLst>
          </p:cNvPr>
          <p:cNvSpPr txBox="1"/>
          <p:nvPr/>
        </p:nvSpPr>
        <p:spPr>
          <a:xfrm rot="3370819">
            <a:off x="-16741" y="2692214"/>
            <a:ext cx="1246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Contracting path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0A1D6BA-DE6F-BB15-C1B7-4A2E07153A94}"/>
              </a:ext>
            </a:extLst>
          </p:cNvPr>
          <p:cNvSpPr txBox="1"/>
          <p:nvPr/>
        </p:nvSpPr>
        <p:spPr>
          <a:xfrm rot="18167788">
            <a:off x="7027651" y="2560765"/>
            <a:ext cx="12813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Expansive path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562C486-E246-61AC-37D4-B9DEB6932C8E}"/>
              </a:ext>
            </a:extLst>
          </p:cNvPr>
          <p:cNvSpPr txBox="1"/>
          <p:nvPr/>
        </p:nvSpPr>
        <p:spPr>
          <a:xfrm>
            <a:off x="7284791" y="993357"/>
            <a:ext cx="1243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C9</a:t>
            </a:r>
          </a:p>
          <a:p>
            <a:r>
              <a:rPr lang="en-US" sz="1000" dirty="0"/>
              <a:t>128x128x128 x16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1EADF13-BCDE-138C-964D-2ECE6C149E13}"/>
              </a:ext>
            </a:extLst>
          </p:cNvPr>
          <p:cNvSpPr txBox="1"/>
          <p:nvPr/>
        </p:nvSpPr>
        <p:spPr>
          <a:xfrm>
            <a:off x="8213410" y="870631"/>
            <a:ext cx="1243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Final output</a:t>
            </a:r>
          </a:p>
          <a:p>
            <a:r>
              <a:rPr lang="en-US" sz="1000" dirty="0"/>
              <a:t>128x128x128x1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9DD448F-772D-B117-5B19-4F97AC35F1C4}"/>
              </a:ext>
            </a:extLst>
          </p:cNvPr>
          <p:cNvSpPr txBox="1"/>
          <p:nvPr/>
        </p:nvSpPr>
        <p:spPr>
          <a:xfrm>
            <a:off x="4332741" y="2763466"/>
            <a:ext cx="1036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Concatenate </a:t>
            </a:r>
          </a:p>
          <a:p>
            <a:r>
              <a:rPr lang="en-US" sz="1000" dirty="0"/>
              <a:t>U6 = U6+C4 </a:t>
            </a:r>
          </a:p>
          <a:p>
            <a:r>
              <a:rPr lang="en-US" sz="1000" dirty="0"/>
              <a:t>16x16x16x256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75934A7-3E81-51D6-F606-53C0214D055F}"/>
              </a:ext>
            </a:extLst>
          </p:cNvPr>
          <p:cNvSpPr txBox="1"/>
          <p:nvPr/>
        </p:nvSpPr>
        <p:spPr>
          <a:xfrm>
            <a:off x="3830813" y="4845324"/>
            <a:ext cx="1036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Bottleneck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0748670-440A-118B-B652-1D157B57B483}"/>
              </a:ext>
            </a:extLst>
          </p:cNvPr>
          <p:cNvSpPr txBox="1"/>
          <p:nvPr/>
        </p:nvSpPr>
        <p:spPr>
          <a:xfrm>
            <a:off x="5609378" y="770499"/>
            <a:ext cx="9932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Concatenate </a:t>
            </a:r>
          </a:p>
          <a:p>
            <a:r>
              <a:rPr lang="en-US" sz="1000" dirty="0"/>
              <a:t>U8=U8+C2 </a:t>
            </a:r>
          </a:p>
          <a:p>
            <a:r>
              <a:rPr lang="en-US" sz="1000" dirty="0"/>
              <a:t>64x64x64 x64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ECBF5EA-DC6F-6E4F-C354-9BE0639CB51D}"/>
              </a:ext>
            </a:extLst>
          </p:cNvPr>
          <p:cNvSpPr txBox="1"/>
          <p:nvPr/>
        </p:nvSpPr>
        <p:spPr>
          <a:xfrm>
            <a:off x="5673161" y="29205"/>
            <a:ext cx="11512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Concatenate </a:t>
            </a:r>
          </a:p>
          <a:p>
            <a:r>
              <a:rPr lang="en-US" sz="1000" dirty="0"/>
              <a:t>U9=U9+C1 </a:t>
            </a:r>
          </a:p>
          <a:p>
            <a:r>
              <a:rPr lang="en-US" sz="1000" dirty="0"/>
              <a:t>128x128x128 x32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D8FD396-2C5D-2141-98E6-C4F1CAC24CAB}"/>
              </a:ext>
            </a:extLst>
          </p:cNvPr>
          <p:cNvSpPr txBox="1"/>
          <p:nvPr/>
        </p:nvSpPr>
        <p:spPr>
          <a:xfrm>
            <a:off x="7347867" y="4389596"/>
            <a:ext cx="1207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Upsample</a:t>
            </a:r>
            <a:r>
              <a:rPr lang="en-US" sz="1000" dirty="0"/>
              <a:t> stride 2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4300833-4B3A-C94B-F831-486C1B51ABF3}"/>
              </a:ext>
            </a:extLst>
          </p:cNvPr>
          <p:cNvSpPr txBox="1"/>
          <p:nvPr/>
        </p:nvSpPr>
        <p:spPr>
          <a:xfrm>
            <a:off x="7347867" y="4121788"/>
            <a:ext cx="11183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Maxpool</a:t>
            </a:r>
            <a:r>
              <a:rPr lang="en-US" sz="1000" dirty="0"/>
              <a:t> stride2</a:t>
            </a:r>
          </a:p>
        </p:txBody>
      </p:sp>
      <p:sp>
        <p:nvSpPr>
          <p:cNvPr id="161" name="Arrow: Right 160">
            <a:extLst>
              <a:ext uri="{FF2B5EF4-FFF2-40B4-BE49-F238E27FC236}">
                <a16:creationId xmlns:a16="http://schemas.microsoft.com/office/drawing/2014/main" id="{56B66309-E7C1-1FEF-ABF6-02B7C73DAA80}"/>
              </a:ext>
            </a:extLst>
          </p:cNvPr>
          <p:cNvSpPr/>
          <p:nvPr/>
        </p:nvSpPr>
        <p:spPr>
          <a:xfrm>
            <a:off x="8379502" y="3919700"/>
            <a:ext cx="468238" cy="229056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DAC8117-6F6C-EFD4-0247-68A9238C3F88}"/>
              </a:ext>
            </a:extLst>
          </p:cNvPr>
          <p:cNvSpPr txBox="1"/>
          <p:nvPr/>
        </p:nvSpPr>
        <p:spPr>
          <a:xfrm>
            <a:off x="7354455" y="3918229"/>
            <a:ext cx="11183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Conv 3D</a:t>
            </a:r>
          </a:p>
        </p:txBody>
      </p:sp>
      <p:sp>
        <p:nvSpPr>
          <p:cNvPr id="163" name="Arrow: Right 162">
            <a:extLst>
              <a:ext uri="{FF2B5EF4-FFF2-40B4-BE49-F238E27FC236}">
                <a16:creationId xmlns:a16="http://schemas.microsoft.com/office/drawing/2014/main" id="{D475E984-ED54-AC6D-F8CB-3B2ED921BF47}"/>
              </a:ext>
            </a:extLst>
          </p:cNvPr>
          <p:cNvSpPr/>
          <p:nvPr/>
        </p:nvSpPr>
        <p:spPr>
          <a:xfrm>
            <a:off x="8418992" y="4689900"/>
            <a:ext cx="426557" cy="229056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4FDF4DEE-2F9D-367E-AC46-2DA398A1263C}"/>
              </a:ext>
            </a:extLst>
          </p:cNvPr>
          <p:cNvSpPr txBox="1"/>
          <p:nvPr/>
        </p:nvSpPr>
        <p:spPr>
          <a:xfrm>
            <a:off x="7354455" y="4663368"/>
            <a:ext cx="11183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Final Conv 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0318AF1-B5E6-12AD-29C6-DFA6F6111E05}"/>
              </a:ext>
            </a:extLst>
          </p:cNvPr>
          <p:cNvSpPr txBox="1"/>
          <p:nvPr/>
        </p:nvSpPr>
        <p:spPr>
          <a:xfrm>
            <a:off x="3450677" y="1147630"/>
            <a:ext cx="11374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Skip Connections</a:t>
            </a:r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9B61DD62-A586-034D-2D6C-7029F88E0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2" y="190656"/>
            <a:ext cx="481555" cy="594545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BF4187ED-1981-05B6-A738-0872D4E92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760" y="280272"/>
            <a:ext cx="503383" cy="59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281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1676</Words>
  <Application>Microsoft Office PowerPoint</Application>
  <PresentationFormat>On-screen Show (16:9)</PresentationFormat>
  <Paragraphs>244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Unicode MS</vt:lpstr>
      <vt:lpstr>Calibri</vt:lpstr>
      <vt:lpstr>Cambria Math</vt:lpstr>
      <vt:lpstr>Office Theme</vt:lpstr>
      <vt:lpstr>3D UNET GBM Auto Segmentation</vt:lpstr>
      <vt:lpstr>Intro</vt:lpstr>
      <vt:lpstr>Datasets &amp; repositories</vt:lpstr>
      <vt:lpstr>Two Strategies tested</vt:lpstr>
      <vt:lpstr>Unsupevised – VAE with MB Conv</vt:lpstr>
      <vt:lpstr>Unsupevised – VAE with MB Conv</vt:lpstr>
      <vt:lpstr>VAE MBConv results</vt:lpstr>
      <vt:lpstr>VAE MBConv conclussions</vt:lpstr>
      <vt:lpstr>Supervised - 3D UNET </vt:lpstr>
      <vt:lpstr>Supevised – 3D UNET Architecture</vt:lpstr>
      <vt:lpstr>3D UNET with Monai</vt:lpstr>
      <vt:lpstr>3D UNET with Monai</vt:lpstr>
      <vt:lpstr>3D UNET Packages &amp; libraries</vt:lpstr>
      <vt:lpstr>Monai 3D UNET Batch Inefrence</vt:lpstr>
      <vt:lpstr>Monai 3D UNET Batch Inference</vt:lpstr>
      <vt:lpstr>Monai 3D UNET Streamlit Demo</vt:lpstr>
      <vt:lpstr>Monai 3D UNET Segmentation Metrics</vt:lpstr>
      <vt:lpstr>3D UNET GBM Auto Segmentation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2025-06-26T20:41:39Z</dcterms:modified>
</cp:coreProperties>
</file>