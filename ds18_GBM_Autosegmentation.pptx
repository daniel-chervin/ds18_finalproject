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5" r:id="rId4"/>
    <p:sldId id="259" r:id="rId5"/>
    <p:sldId id="261" r:id="rId6"/>
    <p:sldId id="262" r:id="rId7"/>
    <p:sldId id="263" r:id="rId8"/>
    <p:sldId id="264" r:id="rId9"/>
    <p:sldId id="266" r:id="rId10"/>
    <p:sldId id="258" r:id="rId11"/>
    <p:sldId id="260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DCD"/>
    <a:srgbClr val="2D8CFF"/>
    <a:srgbClr val="9189FF"/>
    <a:srgbClr val="FFF533"/>
    <a:srgbClr val="CB8E3D"/>
    <a:srgbClr val="EAB05C"/>
    <a:srgbClr val="FF6DEA"/>
    <a:srgbClr val="DD87A6"/>
    <a:srgbClr val="BA2D1C"/>
    <a:srgbClr val="FF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8" d="100"/>
          <a:sy n="128" d="100"/>
        </p:scale>
        <p:origin x="282" y="2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350B06-B074-48FC-8CFD-53D2CD8FB95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96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3376211"/>
            <a:ext cx="8266242" cy="1527050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4252" y="2724455"/>
            <a:ext cx="7280955" cy="763524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rgbClr val="00B0F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3880"/>
            <a:ext cx="8229600" cy="762620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9254"/>
            <a:ext cx="8229600" cy="3264448"/>
          </a:xfrm>
        </p:spPr>
        <p:txBody>
          <a:bodyPr/>
          <a:lstStyle>
            <a:lvl1pPr algn="l">
              <a:defRPr sz="28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2145" y="162200"/>
            <a:ext cx="6405375" cy="903587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2145" y="1104507"/>
            <a:ext cx="6405375" cy="3658289"/>
          </a:xfrm>
        </p:spPr>
        <p:txBody>
          <a:bodyPr/>
          <a:lstStyle>
            <a:lvl1pPr algn="l">
              <a:defRPr sz="28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808" y="433879"/>
            <a:ext cx="8075311" cy="734703"/>
          </a:xfrm>
        </p:spPr>
        <p:txBody>
          <a:bodyPr>
            <a:normAutofit/>
          </a:bodyPr>
          <a:lstStyle>
            <a:lvl1pPr algn="r">
              <a:defRPr sz="3600" u="none" baseline="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808" y="1544993"/>
            <a:ext cx="4040188" cy="568644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2113636"/>
            <a:ext cx="4035120" cy="2427818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1999" y="1544992"/>
            <a:ext cx="4041775" cy="568643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2113635"/>
            <a:ext cx="4041775" cy="2427819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ncerimagingarchive.net/collection/ucsd-ptgbm/" TargetMode="External"/><Relationship Id="rId2" Type="http://schemas.openxmlformats.org/officeDocument/2006/relationships/hyperlink" Target="https://brain-development.org/ixi-dataset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8965" y="3946094"/>
            <a:ext cx="8266242" cy="1159893"/>
          </a:xfrm>
        </p:spPr>
        <p:txBody>
          <a:bodyPr/>
          <a:lstStyle/>
          <a:p>
            <a:r>
              <a:rPr lang="en-US" dirty="0"/>
              <a:t>3D UNET GBM Auto Segmentation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900" y="3182570"/>
            <a:ext cx="7280955" cy="763524"/>
          </a:xfrm>
        </p:spPr>
        <p:txBody>
          <a:bodyPr/>
          <a:lstStyle/>
          <a:p>
            <a:r>
              <a:rPr lang="en-US" dirty="0"/>
              <a:t>DS18 – Chervin Daniel.</a:t>
            </a: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2814"/>
            <a:ext cx="8229600" cy="3110887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Automatic glioblastoma multiforme (GBM) segmentation refers to the use of computer algorithms—most often deep-learning models—to identify and delineate tumor regions in magnetic resonance imaging (MRI) scans without manual intervention. </a:t>
            </a:r>
          </a:p>
          <a:p>
            <a:endParaRPr lang="en-US" dirty="0"/>
          </a:p>
          <a:p>
            <a:r>
              <a:rPr lang="en-US" dirty="0"/>
              <a:t>Precision in Treatment Planning: Automatic GBM segmentation provides consistent, voxel-level delineation of tumor subregions (enhancing tumor, edema, necrosis. </a:t>
            </a:r>
          </a:p>
          <a:p>
            <a:endParaRPr lang="en-US" dirty="0"/>
          </a:p>
          <a:p>
            <a:r>
              <a:rPr lang="en-US" dirty="0"/>
              <a:t>Efficiency &amp; Scalability: Automated methods drastically reduce the time and labor of manual contouring.</a:t>
            </a:r>
          </a:p>
          <a:p>
            <a:endParaRPr lang="en-US" dirty="0"/>
          </a:p>
          <a:p>
            <a:r>
              <a:rPr lang="en-US" dirty="0"/>
              <a:t>Reproducibility &amp; Objectivity: By minimizing inter- and intra-observer variability inherent to manual annotation.</a:t>
            </a:r>
          </a:p>
          <a:p>
            <a:endParaRPr lang="en-US" dirty="0"/>
          </a:p>
          <a:p>
            <a:r>
              <a:rPr lang="en-US" dirty="0"/>
              <a:t>Quantitative Monitoring: Enables robust quantification of tumor volume changes over time, supporting early assessment of treatment response and facilitating adaptive therapy strategies.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309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B71C-6C70-837B-C413-B1D7D0D53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28AC5-71AD-09E3-43E4-EA2DC24B6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7FD9D-8C49-C661-5842-3090EEE6A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02814"/>
            <a:ext cx="8390540" cy="311088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Healthy Brain full scans in nifty format.</a:t>
            </a:r>
          </a:p>
          <a:p>
            <a:pPr lvl="1"/>
            <a:r>
              <a:rPr lang="en-US" dirty="0"/>
              <a:t>IXI dataset  </a:t>
            </a:r>
            <a:r>
              <a:rPr lang="en-US" u="sng" dirty="0">
                <a:hlinkClick r:id="rId2"/>
              </a:rPr>
              <a:t>https://brain-development.org/ixi-dataset/</a:t>
            </a:r>
            <a:endParaRPr lang="en-US" u="sng" dirty="0"/>
          </a:p>
          <a:p>
            <a:r>
              <a:rPr lang="en-US" dirty="0"/>
              <a:t>Brain full scans with GBM + labels (segmentation) nifty</a:t>
            </a:r>
          </a:p>
          <a:p>
            <a:pPr lvl="1"/>
            <a:r>
              <a:rPr lang="en-US" u="sng" dirty="0">
                <a:hlinkClick r:id="rId3"/>
              </a:rPr>
              <a:t>https://www.cancerimagingarchive.net/collection/ucsd-ptgbm/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2664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Strategies tested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670604" y="1197405"/>
            <a:ext cx="7312325" cy="365828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Unsupervised (private interest) </a:t>
            </a:r>
          </a:p>
          <a:p>
            <a:pPr lvl="1"/>
            <a:r>
              <a:rPr lang="en-US" dirty="0"/>
              <a:t>Train Autoencoders on healthy brain MRI scans (IXI).</a:t>
            </a:r>
          </a:p>
          <a:p>
            <a:pPr lvl="1"/>
            <a:r>
              <a:rPr lang="en-US" dirty="0"/>
              <a:t>Inference on Brain scan with tumor and analyze  reconstruction anomalies.</a:t>
            </a:r>
          </a:p>
          <a:p>
            <a:pPr lvl="1"/>
            <a:r>
              <a:rPr lang="en-US" dirty="0"/>
              <a:t>Does not require a labeled dataset, advantage.</a:t>
            </a:r>
          </a:p>
          <a:p>
            <a:pPr lvl="1"/>
            <a:r>
              <a:rPr lang="en-US" dirty="0"/>
              <a:t>Spoiler… not accurate enough segmentation, disadvantage.</a:t>
            </a:r>
          </a:p>
          <a:p>
            <a:r>
              <a:rPr lang="en-US" dirty="0"/>
              <a:t>Supervised </a:t>
            </a:r>
          </a:p>
          <a:p>
            <a:pPr lvl="1"/>
            <a:r>
              <a:rPr lang="en-US" dirty="0"/>
              <a:t>Train a 3D UNET CNN on MRI scans with GBM + labels dataset.</a:t>
            </a:r>
          </a:p>
          <a:p>
            <a:pPr lvl="1"/>
            <a:r>
              <a:rPr lang="en-US" dirty="0"/>
              <a:t>Evaluate on a ground truth scans with labels.</a:t>
            </a:r>
          </a:p>
        </p:txBody>
      </p:sp>
    </p:spTree>
    <p:extLst>
      <p:ext uri="{BB962C8B-B14F-4D97-AF65-F5344CB8AC3E}">
        <p14:creationId xmlns:p14="http://schemas.microsoft.com/office/powerpoint/2010/main" val="1101633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27BF0-C8A3-7654-FB2E-537AFA9EC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6FCB62-F895-585D-CADE-89C80A4A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Unsupevised</a:t>
            </a:r>
            <a:r>
              <a:rPr lang="en-US" dirty="0"/>
              <a:t> – VAE with MB Conv</a:t>
            </a:r>
          </a:p>
        </p:txBody>
      </p:sp>
      <p:pic>
        <p:nvPicPr>
          <p:cNvPr id="1026" name="Picture 2" descr="GitHub - julian-8897/Conv-VAE-PyTorch: Variational Autoencoder (VAE) in  PyTorch">
            <a:extLst>
              <a:ext uri="{FF2B5EF4-FFF2-40B4-BE49-F238E27FC236}">
                <a16:creationId xmlns:a16="http://schemas.microsoft.com/office/drawing/2014/main" id="{B5A02432-C3CB-2919-314C-016D352BB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4384" y="739290"/>
            <a:ext cx="6713355" cy="3692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1800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8729D-9879-29FF-6278-56AE12A86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E95278-9F73-90FC-E345-DF184E30E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Unsupevised</a:t>
            </a:r>
            <a:r>
              <a:rPr lang="en-US" dirty="0"/>
              <a:t> – VAE with MB Conv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BE2B5235-94E2-85AE-5147-5A52B6716A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68397" y="727808"/>
            <a:ext cx="7320690" cy="43088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Input volume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A 3D scan enters the encoder.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Encoder path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Series of MBConv3D blocks that expand channels and down-sample via stride.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Global average pooling yields a single feature vector.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Two linear layers produce μ and log σ² for the latent distribution.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200" dirty="0"/>
              <a:t>Latent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space (z)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Sampling occurs via the reparameterization trick.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Decoder path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Project z back to a small feature map.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Three rounds of ConvTranspose3D up-sampling followed by MBConv3D refinement.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3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Final 1×1×1 convolution reconstructs the single-channel volume.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02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C98C-078B-C7AD-3F33-83B2F73EF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9F7576-4268-CBC5-71A7-86B1F3239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871725" cy="610820"/>
          </a:xfrm>
        </p:spPr>
        <p:txBody>
          <a:bodyPr>
            <a:normAutofit fontScale="90000"/>
          </a:bodyPr>
          <a:lstStyle/>
          <a:p>
            <a:r>
              <a:rPr lang="en-US" dirty="0"/>
              <a:t>VAE </a:t>
            </a:r>
            <a:r>
              <a:rPr lang="en-US" dirty="0" err="1"/>
              <a:t>MBConv</a:t>
            </a:r>
            <a:r>
              <a:rPr lang="en-US" dirty="0"/>
              <a:t> results</a:t>
            </a:r>
          </a:p>
        </p:txBody>
      </p: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BD223DB-B5C8-9A8C-BC01-AE88D264B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237" y="739290"/>
            <a:ext cx="4392208" cy="4070391"/>
          </a:xfrm>
          <a:prstGeom prst="rect">
            <a:avLst/>
          </a:prstGeom>
        </p:spPr>
      </p:pic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162EAAC-E43A-2BEE-21C7-6AC2F5C450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16" y="739290"/>
            <a:ext cx="4402183" cy="407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2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F1F1C-014C-7E30-2744-733241C1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274D1F-663E-7027-D994-3493BE7F8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/>
              <a:t>VAE </a:t>
            </a:r>
            <a:r>
              <a:rPr lang="en-US" dirty="0" err="1"/>
              <a:t>MBConv</a:t>
            </a:r>
            <a:r>
              <a:rPr lang="en-US" dirty="0"/>
              <a:t> </a:t>
            </a:r>
            <a:r>
              <a:rPr lang="en-US" dirty="0" err="1"/>
              <a:t>conclussions</a:t>
            </a:r>
            <a:endParaRPr lang="en-US" dirty="0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16E3621D-12C5-C033-E4A0-CE1A12AAF8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23310" y="619185"/>
            <a:ext cx="732069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VAE + </a:t>
            </a:r>
            <a:r>
              <a:rPr lang="en-US" sz="1800" dirty="0" err="1"/>
              <a:t>MBConv</a:t>
            </a:r>
            <a:r>
              <a:rPr lang="en-US" sz="1800" dirty="0"/>
              <a:t> model is consistently picking up the high-contrast core of the tumor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Under-segmentation, misses central and peripheral regions.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Spurious false positives, small, scattered green/blue islands in regions where the ground truth has none.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Shape irregularity, jagged output, holes…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800" dirty="0"/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Next steps (post DS18 ;)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Increase latent capacity.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Morphological post-processing, eliminate spurious islands and fill holes.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Overall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latin typeface="Arial" panose="020B0604020202020204" pitchFamily="34" charset="0"/>
              </a:rPr>
              <a:t>Catches the tumor but requires more investigation and refinement of the architecture to segment the full region and handle false positives.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433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8C7C4-54CF-8E9B-694C-007692ED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658B1E-112C-252B-A435-16CB0A4B7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Supevised</a:t>
            </a:r>
            <a:r>
              <a:rPr lang="en-US" dirty="0"/>
              <a:t> – 3D UNET Architecture</a:t>
            </a:r>
          </a:p>
        </p:txBody>
      </p:sp>
      <p:pic>
        <p:nvPicPr>
          <p:cNvPr id="3074" name="Picture 2" descr="An illustration of the coarse model based on 3D Unet. Here, we show the case with a single-channel input. In our experiments, the input will be adjusted according to different situations">
            <a:extLst>
              <a:ext uri="{FF2B5EF4-FFF2-40B4-BE49-F238E27FC236}">
                <a16:creationId xmlns:a16="http://schemas.microsoft.com/office/drawing/2014/main" id="{BADCA6A1-73D4-793C-5DB6-717DB7206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6336" y="891995"/>
            <a:ext cx="5810388" cy="4251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4301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655770" y="433879"/>
            <a:ext cx="4951349" cy="73470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3D UNET Architecture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1E009A5-546A-B813-9D67-6E6A47FB40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670" y="1197405"/>
            <a:ext cx="7482545" cy="3664920"/>
          </a:xfrm>
        </p:spPr>
        <p:txBody>
          <a:bodyPr/>
          <a:lstStyle/>
          <a:p>
            <a:pPr algn="l"/>
            <a:r>
              <a:rPr lang="en-US" dirty="0" err="1"/>
              <a:t>Orignally</a:t>
            </a:r>
            <a:r>
              <a:rPr lang="en-US" dirty="0"/>
              <a:t> designed for biomedical segmentation.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:\websites\free-power-point-templates\2012\logos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100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0338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C5A846-A07A-B73F-037F-4A437700A420}"/>
              </a:ext>
            </a:extLst>
          </p:cNvPr>
          <p:cNvSpPr/>
          <p:nvPr/>
        </p:nvSpPr>
        <p:spPr>
          <a:xfrm>
            <a:off x="555881" y="281175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1D3B30-089B-FC10-A0D4-2883D800127C}"/>
              </a:ext>
            </a:extLst>
          </p:cNvPr>
          <p:cNvSpPr/>
          <p:nvPr/>
        </p:nvSpPr>
        <p:spPr>
          <a:xfrm>
            <a:off x="861291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FF4C37-4E4C-6CF7-28EB-519A83AE8370}"/>
              </a:ext>
            </a:extLst>
          </p:cNvPr>
          <p:cNvSpPr/>
          <p:nvPr/>
        </p:nvSpPr>
        <p:spPr>
          <a:xfrm>
            <a:off x="1184670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1D21380-DEBE-A77B-3484-4997BB76EB14}"/>
              </a:ext>
            </a:extLst>
          </p:cNvPr>
          <p:cNvSpPr/>
          <p:nvPr/>
        </p:nvSpPr>
        <p:spPr>
          <a:xfrm>
            <a:off x="708586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8FBA75F-E685-2ACA-E711-91A43C5A9ED6}"/>
              </a:ext>
            </a:extLst>
          </p:cNvPr>
          <p:cNvSpPr/>
          <p:nvPr/>
        </p:nvSpPr>
        <p:spPr>
          <a:xfrm>
            <a:off x="1031965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D3C3177-A5BE-C211-F99A-23BB2341A858}"/>
              </a:ext>
            </a:extLst>
          </p:cNvPr>
          <p:cNvSpPr/>
          <p:nvPr/>
        </p:nvSpPr>
        <p:spPr>
          <a:xfrm>
            <a:off x="1188700" y="1273761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489994-0B89-4A8E-FD13-EC996B764679}"/>
              </a:ext>
            </a:extLst>
          </p:cNvPr>
          <p:cNvSpPr/>
          <p:nvPr/>
        </p:nvSpPr>
        <p:spPr>
          <a:xfrm>
            <a:off x="1494110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EEB8EC-3946-2927-C5CE-66C52E36A1C3}"/>
              </a:ext>
            </a:extLst>
          </p:cNvPr>
          <p:cNvSpPr/>
          <p:nvPr/>
        </p:nvSpPr>
        <p:spPr>
          <a:xfrm>
            <a:off x="1817489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FA106E2A-3070-6FFC-1449-C469677777F0}"/>
              </a:ext>
            </a:extLst>
          </p:cNvPr>
          <p:cNvSpPr/>
          <p:nvPr/>
        </p:nvSpPr>
        <p:spPr>
          <a:xfrm>
            <a:off x="1341405" y="1502820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E2B400A4-504B-56E0-08A4-7ED2E50EE770}"/>
              </a:ext>
            </a:extLst>
          </p:cNvPr>
          <p:cNvSpPr/>
          <p:nvPr/>
        </p:nvSpPr>
        <p:spPr>
          <a:xfrm>
            <a:off x="1664784" y="1502820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88C829-5963-9E3F-84E0-CE9738312346}"/>
              </a:ext>
            </a:extLst>
          </p:cNvPr>
          <p:cNvSpPr/>
          <p:nvPr/>
        </p:nvSpPr>
        <p:spPr>
          <a:xfrm>
            <a:off x="1818755" y="2278120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DDBED82-06EF-C0CB-EBF1-2B5AB9C00F64}"/>
              </a:ext>
            </a:extLst>
          </p:cNvPr>
          <p:cNvSpPr/>
          <p:nvPr/>
        </p:nvSpPr>
        <p:spPr>
          <a:xfrm>
            <a:off x="2124165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45094C0-3BC8-94E2-7B67-874269D62229}"/>
              </a:ext>
            </a:extLst>
          </p:cNvPr>
          <p:cNvSpPr/>
          <p:nvPr/>
        </p:nvSpPr>
        <p:spPr>
          <a:xfrm>
            <a:off x="2447544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B18EAB8D-9DFE-5399-3BDC-D2B5CC09CE3D}"/>
              </a:ext>
            </a:extLst>
          </p:cNvPr>
          <p:cNvSpPr/>
          <p:nvPr/>
        </p:nvSpPr>
        <p:spPr>
          <a:xfrm>
            <a:off x="1971460" y="250717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1956A59F-C813-CA88-B8B2-2C91F803E5F5}"/>
              </a:ext>
            </a:extLst>
          </p:cNvPr>
          <p:cNvSpPr/>
          <p:nvPr/>
        </p:nvSpPr>
        <p:spPr>
          <a:xfrm>
            <a:off x="2294839" y="250717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D551EB4-AF38-FCC0-8932-46EDE98247F1}"/>
              </a:ext>
            </a:extLst>
          </p:cNvPr>
          <p:cNvSpPr/>
          <p:nvPr/>
        </p:nvSpPr>
        <p:spPr>
          <a:xfrm>
            <a:off x="2439912" y="3270705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D5EE72F-D13E-1313-E730-8187B0277C0F}"/>
              </a:ext>
            </a:extLst>
          </p:cNvPr>
          <p:cNvSpPr/>
          <p:nvPr/>
        </p:nvSpPr>
        <p:spPr>
          <a:xfrm>
            <a:off x="2745322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EFA3EB1-8223-9FBA-3E73-29045C07EBBB}"/>
              </a:ext>
            </a:extLst>
          </p:cNvPr>
          <p:cNvSpPr/>
          <p:nvPr/>
        </p:nvSpPr>
        <p:spPr>
          <a:xfrm>
            <a:off x="3068701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FDCA5B45-2A99-CA70-C162-BD1CD26FCE7A}"/>
              </a:ext>
            </a:extLst>
          </p:cNvPr>
          <p:cNvSpPr/>
          <p:nvPr/>
        </p:nvSpPr>
        <p:spPr>
          <a:xfrm>
            <a:off x="2592617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55613E8D-07C4-2CC4-4B65-3DDDF0F56C8F}"/>
              </a:ext>
            </a:extLst>
          </p:cNvPr>
          <p:cNvSpPr/>
          <p:nvPr/>
        </p:nvSpPr>
        <p:spPr>
          <a:xfrm>
            <a:off x="2915996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EAAF43-A559-8333-B8B1-9E0BF1F6434F}"/>
              </a:ext>
            </a:extLst>
          </p:cNvPr>
          <p:cNvSpPr/>
          <p:nvPr/>
        </p:nvSpPr>
        <p:spPr>
          <a:xfrm>
            <a:off x="3479275" y="4323141"/>
            <a:ext cx="305410" cy="522994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01C034-1AF9-6E36-1AD3-0AFF668FF4FC}"/>
              </a:ext>
            </a:extLst>
          </p:cNvPr>
          <p:cNvSpPr/>
          <p:nvPr/>
        </p:nvSpPr>
        <p:spPr>
          <a:xfrm>
            <a:off x="4027331" y="4320931"/>
            <a:ext cx="305410" cy="522995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FFB8117-F905-87CC-16A7-C22C822442B7}"/>
              </a:ext>
            </a:extLst>
          </p:cNvPr>
          <p:cNvSpPr/>
          <p:nvPr/>
        </p:nvSpPr>
        <p:spPr>
          <a:xfrm>
            <a:off x="4575387" y="4320931"/>
            <a:ext cx="305410" cy="522994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E666AFF3-EFF0-05B0-EF0E-F13231274066}"/>
              </a:ext>
            </a:extLst>
          </p:cNvPr>
          <p:cNvSpPr/>
          <p:nvPr/>
        </p:nvSpPr>
        <p:spPr>
          <a:xfrm>
            <a:off x="4332741" y="4467900"/>
            <a:ext cx="242646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EFED0FE0-70BB-3E0A-26AA-622E726CC9F5}"/>
              </a:ext>
            </a:extLst>
          </p:cNvPr>
          <p:cNvSpPr/>
          <p:nvPr/>
        </p:nvSpPr>
        <p:spPr>
          <a:xfrm>
            <a:off x="3784685" y="4467900"/>
            <a:ext cx="242646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BE7EBC2-8FA5-B94D-EFFF-62EE6FB5C39A}"/>
              </a:ext>
            </a:extLst>
          </p:cNvPr>
          <p:cNvSpPr/>
          <p:nvPr/>
        </p:nvSpPr>
        <p:spPr>
          <a:xfrm>
            <a:off x="6903029" y="281175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EDE1077-210F-50C0-065E-136A0EA63E98}"/>
              </a:ext>
            </a:extLst>
          </p:cNvPr>
          <p:cNvSpPr/>
          <p:nvPr/>
        </p:nvSpPr>
        <p:spPr>
          <a:xfrm>
            <a:off x="7208439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B1A914B-ED1E-1415-14C8-56DA76A21E70}"/>
              </a:ext>
            </a:extLst>
          </p:cNvPr>
          <p:cNvSpPr/>
          <p:nvPr/>
        </p:nvSpPr>
        <p:spPr>
          <a:xfrm>
            <a:off x="7531818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21F2DD21-05AE-C40B-9890-8AEB1E86CE1D}"/>
              </a:ext>
            </a:extLst>
          </p:cNvPr>
          <p:cNvSpPr/>
          <p:nvPr/>
        </p:nvSpPr>
        <p:spPr>
          <a:xfrm>
            <a:off x="7055734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73E837C5-9288-2B7D-0E5B-46C1675E40C8}"/>
              </a:ext>
            </a:extLst>
          </p:cNvPr>
          <p:cNvSpPr/>
          <p:nvPr/>
        </p:nvSpPr>
        <p:spPr>
          <a:xfrm>
            <a:off x="7379113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97DA9B8-E5A1-65B4-E79B-AE1992E96ED1}"/>
              </a:ext>
            </a:extLst>
          </p:cNvPr>
          <p:cNvSpPr/>
          <p:nvPr/>
        </p:nvSpPr>
        <p:spPr>
          <a:xfrm>
            <a:off x="6274240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2B9D68D-323E-A246-5D95-7CF9E7AD672D}"/>
              </a:ext>
            </a:extLst>
          </p:cNvPr>
          <p:cNvSpPr/>
          <p:nvPr/>
        </p:nvSpPr>
        <p:spPr>
          <a:xfrm>
            <a:off x="6579650" y="1273759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2F28B31-401C-CD34-D902-4F8863BD7829}"/>
              </a:ext>
            </a:extLst>
          </p:cNvPr>
          <p:cNvSpPr/>
          <p:nvPr/>
        </p:nvSpPr>
        <p:spPr>
          <a:xfrm>
            <a:off x="6903029" y="1273759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DFDE0EBC-A586-33CC-CCF6-47814FEB56AF}"/>
              </a:ext>
            </a:extLst>
          </p:cNvPr>
          <p:cNvSpPr/>
          <p:nvPr/>
        </p:nvSpPr>
        <p:spPr>
          <a:xfrm>
            <a:off x="6426945" y="150281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0BD53393-1C1B-5183-5616-A57D711319B7}"/>
              </a:ext>
            </a:extLst>
          </p:cNvPr>
          <p:cNvSpPr/>
          <p:nvPr/>
        </p:nvSpPr>
        <p:spPr>
          <a:xfrm>
            <a:off x="6750324" y="150281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63D0EC2-F89C-3BF7-6828-A6DC83904F48}"/>
              </a:ext>
            </a:extLst>
          </p:cNvPr>
          <p:cNvSpPr/>
          <p:nvPr/>
        </p:nvSpPr>
        <p:spPr>
          <a:xfrm>
            <a:off x="5645451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FAE878A-57D2-5163-1BE3-3FC4F188F96F}"/>
              </a:ext>
            </a:extLst>
          </p:cNvPr>
          <p:cNvSpPr/>
          <p:nvPr/>
        </p:nvSpPr>
        <p:spPr>
          <a:xfrm>
            <a:off x="5950861" y="2278118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02ADA22-2BDA-093F-3970-CE5CF944E10D}"/>
              </a:ext>
            </a:extLst>
          </p:cNvPr>
          <p:cNvSpPr/>
          <p:nvPr/>
        </p:nvSpPr>
        <p:spPr>
          <a:xfrm>
            <a:off x="6274240" y="2278118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4D36CAF5-763E-1690-1BBB-262380E3D9DC}"/>
              </a:ext>
            </a:extLst>
          </p:cNvPr>
          <p:cNvSpPr/>
          <p:nvPr/>
        </p:nvSpPr>
        <p:spPr>
          <a:xfrm>
            <a:off x="5798156" y="2507178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3FEB48F-1CA0-DD7E-D0BB-5483E5889F8B}"/>
              </a:ext>
            </a:extLst>
          </p:cNvPr>
          <p:cNvSpPr/>
          <p:nvPr/>
        </p:nvSpPr>
        <p:spPr>
          <a:xfrm>
            <a:off x="6121535" y="2507178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0069AD8-8996-E603-E7BE-52C87038D306}"/>
              </a:ext>
            </a:extLst>
          </p:cNvPr>
          <p:cNvSpPr/>
          <p:nvPr/>
        </p:nvSpPr>
        <p:spPr>
          <a:xfrm>
            <a:off x="5016662" y="3270705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4716B2-0A3F-DADB-51A4-16AB88E6121C}"/>
              </a:ext>
            </a:extLst>
          </p:cNvPr>
          <p:cNvSpPr/>
          <p:nvPr/>
        </p:nvSpPr>
        <p:spPr>
          <a:xfrm>
            <a:off x="5322072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007E252-B069-226C-1A3C-CC6936FB91B5}"/>
              </a:ext>
            </a:extLst>
          </p:cNvPr>
          <p:cNvSpPr/>
          <p:nvPr/>
        </p:nvSpPr>
        <p:spPr>
          <a:xfrm>
            <a:off x="5645451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8C6178F4-CE6B-CC1D-2A0A-A6066B414589}"/>
              </a:ext>
            </a:extLst>
          </p:cNvPr>
          <p:cNvSpPr/>
          <p:nvPr/>
        </p:nvSpPr>
        <p:spPr>
          <a:xfrm>
            <a:off x="5169367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722927C8-2D5E-87CC-9C43-3D0E2301036F}"/>
              </a:ext>
            </a:extLst>
          </p:cNvPr>
          <p:cNvSpPr/>
          <p:nvPr/>
        </p:nvSpPr>
        <p:spPr>
          <a:xfrm>
            <a:off x="5492746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3F051B-FF9B-4788-BD4E-AAAEE7B676AE}"/>
              </a:ext>
            </a:extLst>
          </p:cNvPr>
          <p:cNvSpPr/>
          <p:nvPr/>
        </p:nvSpPr>
        <p:spPr>
          <a:xfrm>
            <a:off x="8118808" y="281173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527533-3B6E-6570-8AA8-F9EDA75B4678}"/>
              </a:ext>
            </a:extLst>
          </p:cNvPr>
          <p:cNvSpPr txBox="1"/>
          <p:nvPr/>
        </p:nvSpPr>
        <p:spPr>
          <a:xfrm>
            <a:off x="758111" y="8120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09DCB3A-E8A5-D16B-3213-AAFB48940156}"/>
              </a:ext>
            </a:extLst>
          </p:cNvPr>
          <p:cNvSpPr txBox="1"/>
          <p:nvPr/>
        </p:nvSpPr>
        <p:spPr>
          <a:xfrm>
            <a:off x="444925" y="8120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9B4319-CE3A-7BE9-9125-0B17E613E65C}"/>
              </a:ext>
            </a:extLst>
          </p:cNvPr>
          <p:cNvSpPr txBox="1"/>
          <p:nvPr/>
        </p:nvSpPr>
        <p:spPr>
          <a:xfrm>
            <a:off x="1398066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E8286D-3014-3487-5AEF-3B7D827BD525}"/>
              </a:ext>
            </a:extLst>
          </p:cNvPr>
          <p:cNvSpPr txBox="1"/>
          <p:nvPr/>
        </p:nvSpPr>
        <p:spPr>
          <a:xfrm>
            <a:off x="1750120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9991536-F537-0416-63EC-67BC259848B5}"/>
              </a:ext>
            </a:extLst>
          </p:cNvPr>
          <p:cNvSpPr txBox="1"/>
          <p:nvPr/>
        </p:nvSpPr>
        <p:spPr>
          <a:xfrm>
            <a:off x="2035772" y="2078658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1E8AC41-A425-2D6B-D8DD-B089760D0C94}"/>
              </a:ext>
            </a:extLst>
          </p:cNvPr>
          <p:cNvSpPr txBox="1"/>
          <p:nvPr/>
        </p:nvSpPr>
        <p:spPr>
          <a:xfrm>
            <a:off x="2651293" y="3071243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9710F91-7811-C6CB-55C2-0248C88EB4BB}"/>
              </a:ext>
            </a:extLst>
          </p:cNvPr>
          <p:cNvSpPr txBox="1"/>
          <p:nvPr/>
        </p:nvSpPr>
        <p:spPr>
          <a:xfrm>
            <a:off x="3423276" y="4129621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72B9250-FA40-AE29-337C-019C05F60F06}"/>
              </a:ext>
            </a:extLst>
          </p:cNvPr>
          <p:cNvSpPr txBox="1"/>
          <p:nvPr/>
        </p:nvSpPr>
        <p:spPr>
          <a:xfrm>
            <a:off x="3984399" y="4121789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2EE64AD-0D47-25D3-3573-525ACA79712D}"/>
              </a:ext>
            </a:extLst>
          </p:cNvPr>
          <p:cNvSpPr txBox="1"/>
          <p:nvPr/>
        </p:nvSpPr>
        <p:spPr>
          <a:xfrm>
            <a:off x="4540958" y="4103478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06BCF64-3B78-8041-668F-1C1728A4C9B0}"/>
              </a:ext>
            </a:extLst>
          </p:cNvPr>
          <p:cNvSpPr txBox="1"/>
          <p:nvPr/>
        </p:nvSpPr>
        <p:spPr>
          <a:xfrm>
            <a:off x="2954026" y="308160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CE0C739-8F67-4915-ACD7-C12D7A637E73}"/>
              </a:ext>
            </a:extLst>
          </p:cNvPr>
          <p:cNvSpPr txBox="1"/>
          <p:nvPr/>
        </p:nvSpPr>
        <p:spPr>
          <a:xfrm>
            <a:off x="2365263" y="2092053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C190012-27D1-A1AC-F09E-DCA5191CCB7E}"/>
              </a:ext>
            </a:extLst>
          </p:cNvPr>
          <p:cNvSpPr txBox="1"/>
          <p:nvPr/>
        </p:nvSpPr>
        <p:spPr>
          <a:xfrm>
            <a:off x="5886034" y="207865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6AE6DCF-1D8B-3E48-C041-30E68CF8416F}"/>
              </a:ext>
            </a:extLst>
          </p:cNvPr>
          <p:cNvSpPr txBox="1"/>
          <p:nvPr/>
        </p:nvSpPr>
        <p:spPr>
          <a:xfrm>
            <a:off x="6321916" y="2092053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EFD0695-3EC2-F766-FB12-627C8C126543}"/>
              </a:ext>
            </a:extLst>
          </p:cNvPr>
          <p:cNvSpPr txBox="1"/>
          <p:nvPr/>
        </p:nvSpPr>
        <p:spPr>
          <a:xfrm>
            <a:off x="5704127" y="308160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CB960A8-1565-9433-8D4D-47D94C9E36A5}"/>
              </a:ext>
            </a:extLst>
          </p:cNvPr>
          <p:cNvSpPr txBox="1"/>
          <p:nvPr/>
        </p:nvSpPr>
        <p:spPr>
          <a:xfrm>
            <a:off x="6506402" y="1095879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7CA3DDA-56A5-B5EB-FBE5-AEE416438A05}"/>
              </a:ext>
            </a:extLst>
          </p:cNvPr>
          <p:cNvSpPr txBox="1"/>
          <p:nvPr/>
        </p:nvSpPr>
        <p:spPr>
          <a:xfrm>
            <a:off x="6977044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773FFB0-9948-4539-664A-EE9776BE5D53}"/>
              </a:ext>
            </a:extLst>
          </p:cNvPr>
          <p:cNvSpPr txBox="1"/>
          <p:nvPr/>
        </p:nvSpPr>
        <p:spPr>
          <a:xfrm>
            <a:off x="7119530" y="6754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D439D79-BC17-BC48-F496-2AA431EDB8CA}"/>
              </a:ext>
            </a:extLst>
          </p:cNvPr>
          <p:cNvSpPr txBox="1"/>
          <p:nvPr/>
        </p:nvSpPr>
        <p:spPr>
          <a:xfrm>
            <a:off x="7448049" y="7437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A773265-D555-5193-080F-13E6C48272F4}"/>
              </a:ext>
            </a:extLst>
          </p:cNvPr>
          <p:cNvSpPr txBox="1"/>
          <p:nvPr/>
        </p:nvSpPr>
        <p:spPr>
          <a:xfrm>
            <a:off x="8075677" y="8120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</a:t>
            </a:r>
          </a:p>
        </p:txBody>
      </p:sp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D7888A9B-0A32-F2D8-F72A-0E49D8962D21}"/>
              </a:ext>
            </a:extLst>
          </p:cNvPr>
          <p:cNvSpPr/>
          <p:nvPr/>
        </p:nvSpPr>
        <p:spPr>
          <a:xfrm>
            <a:off x="7692251" y="510234"/>
            <a:ext cx="426557" cy="22905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7598013-A366-36E8-45EF-2ACD71F2B6BA}"/>
              </a:ext>
            </a:extLst>
          </p:cNvPr>
          <p:cNvSpPr txBox="1"/>
          <p:nvPr/>
        </p:nvSpPr>
        <p:spPr>
          <a:xfrm>
            <a:off x="5212566" y="306377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6C79A9E-EF64-CD76-3E81-E4380C04C18A}"/>
              </a:ext>
            </a:extLst>
          </p:cNvPr>
          <p:cNvSpPr/>
          <p:nvPr/>
        </p:nvSpPr>
        <p:spPr>
          <a:xfrm>
            <a:off x="4871140" y="3270703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5A010DD-A32C-FF61-965B-3F6680B2B15E}"/>
              </a:ext>
            </a:extLst>
          </p:cNvPr>
          <p:cNvSpPr/>
          <p:nvPr/>
        </p:nvSpPr>
        <p:spPr>
          <a:xfrm>
            <a:off x="5476334" y="2278118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3345414-72EC-C2E1-9168-D0C09E55EF9B}"/>
              </a:ext>
            </a:extLst>
          </p:cNvPr>
          <p:cNvSpPr/>
          <p:nvPr/>
        </p:nvSpPr>
        <p:spPr>
          <a:xfrm>
            <a:off x="6104602" y="1270741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CDB519D-106E-EF0C-3328-713056F1406A}"/>
              </a:ext>
            </a:extLst>
          </p:cNvPr>
          <p:cNvSpPr/>
          <p:nvPr/>
        </p:nvSpPr>
        <p:spPr>
          <a:xfrm>
            <a:off x="6741340" y="281173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5CF9A0C-69A5-D209-7578-F7CDE058A168}"/>
              </a:ext>
            </a:extLst>
          </p:cNvPr>
          <p:cNvCxnSpPr>
            <a:stCxn id="7" idx="2"/>
            <a:endCxn id="38" idx="0"/>
          </p:cNvCxnSpPr>
          <p:nvPr/>
        </p:nvCxnSpPr>
        <p:spPr>
          <a:xfrm>
            <a:off x="1261023" y="1044699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073B57E-EE8A-AAFB-640A-99643FC14F49}"/>
              </a:ext>
            </a:extLst>
          </p:cNvPr>
          <p:cNvCxnSpPr>
            <a:cxnSpLocks/>
          </p:cNvCxnSpPr>
          <p:nvPr/>
        </p:nvCxnSpPr>
        <p:spPr>
          <a:xfrm>
            <a:off x="8416802" y="4251505"/>
            <a:ext cx="430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72893425-625F-B8E7-AEAB-DA12E06334E9}"/>
              </a:ext>
            </a:extLst>
          </p:cNvPr>
          <p:cNvCxnSpPr/>
          <p:nvPr/>
        </p:nvCxnSpPr>
        <p:spPr>
          <a:xfrm>
            <a:off x="1887124" y="2064147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81B669E1-965A-9443-031F-A3A5073D9441}"/>
              </a:ext>
            </a:extLst>
          </p:cNvPr>
          <p:cNvCxnSpPr/>
          <p:nvPr/>
        </p:nvCxnSpPr>
        <p:spPr>
          <a:xfrm>
            <a:off x="2508867" y="3027198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E3CFC0C-6D17-ABB3-CFBE-DA2B66E35F4E}"/>
              </a:ext>
            </a:extLst>
          </p:cNvPr>
          <p:cNvCxnSpPr>
            <a:cxnSpLocks/>
          </p:cNvCxnSpPr>
          <p:nvPr/>
        </p:nvCxnSpPr>
        <p:spPr>
          <a:xfrm>
            <a:off x="3204640" y="4062672"/>
            <a:ext cx="284121" cy="2431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E3FC813-1A2D-5BDE-7D7F-BE70C38C053A}"/>
              </a:ext>
            </a:extLst>
          </p:cNvPr>
          <p:cNvCxnSpPr>
            <a:cxnSpLocks/>
          </p:cNvCxnSpPr>
          <p:nvPr/>
        </p:nvCxnSpPr>
        <p:spPr>
          <a:xfrm flipV="1">
            <a:off x="4880797" y="4041340"/>
            <a:ext cx="57020" cy="2795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5EC39D5-AD16-756D-BDC9-F68839160DF5}"/>
              </a:ext>
            </a:extLst>
          </p:cNvPr>
          <p:cNvCxnSpPr>
            <a:cxnSpLocks/>
          </p:cNvCxnSpPr>
          <p:nvPr/>
        </p:nvCxnSpPr>
        <p:spPr>
          <a:xfrm>
            <a:off x="8416802" y="4520787"/>
            <a:ext cx="430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973F9A4-EFDC-66B9-E403-3A5F9861589C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704127" y="3036680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99BB18B-2CE8-C4AA-5964-F1F1C413506D}"/>
              </a:ext>
            </a:extLst>
          </p:cNvPr>
          <p:cNvCxnSpPr>
            <a:cxnSpLocks/>
          </p:cNvCxnSpPr>
          <p:nvPr/>
        </p:nvCxnSpPr>
        <p:spPr>
          <a:xfrm flipH="1" flipV="1">
            <a:off x="6340482" y="2016737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506D80A-FE46-5AAB-FABE-38C99C0724BB}"/>
              </a:ext>
            </a:extLst>
          </p:cNvPr>
          <p:cNvCxnSpPr>
            <a:cxnSpLocks/>
          </p:cNvCxnSpPr>
          <p:nvPr/>
        </p:nvCxnSpPr>
        <p:spPr>
          <a:xfrm flipH="1" flipV="1">
            <a:off x="6970104" y="1036717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AC027B2C-1D2F-E2BE-17C3-3D70E5A32077}"/>
              </a:ext>
            </a:extLst>
          </p:cNvPr>
          <p:cNvSpPr/>
          <p:nvPr/>
        </p:nvSpPr>
        <p:spPr>
          <a:xfrm>
            <a:off x="1339595" y="724497"/>
            <a:ext cx="5383776" cy="75323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2" name="Arrow: Right 131">
            <a:extLst>
              <a:ext uri="{FF2B5EF4-FFF2-40B4-BE49-F238E27FC236}">
                <a16:creationId xmlns:a16="http://schemas.microsoft.com/office/drawing/2014/main" id="{C0698845-5241-9591-73B4-7B6BFABEBB46}"/>
              </a:ext>
            </a:extLst>
          </p:cNvPr>
          <p:cNvSpPr/>
          <p:nvPr/>
        </p:nvSpPr>
        <p:spPr>
          <a:xfrm>
            <a:off x="1978155" y="1715056"/>
            <a:ext cx="4108478" cy="93169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3" name="Arrow: Right 132">
            <a:extLst>
              <a:ext uri="{FF2B5EF4-FFF2-40B4-BE49-F238E27FC236}">
                <a16:creationId xmlns:a16="http://schemas.microsoft.com/office/drawing/2014/main" id="{EE7945A5-95FC-33E9-7FE0-C3B6269BEFA4}"/>
              </a:ext>
            </a:extLst>
          </p:cNvPr>
          <p:cNvSpPr/>
          <p:nvPr/>
        </p:nvSpPr>
        <p:spPr>
          <a:xfrm>
            <a:off x="2616661" y="2736234"/>
            <a:ext cx="2858116" cy="68993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4" name="Arrow: Right 133">
            <a:extLst>
              <a:ext uri="{FF2B5EF4-FFF2-40B4-BE49-F238E27FC236}">
                <a16:creationId xmlns:a16="http://schemas.microsoft.com/office/drawing/2014/main" id="{7DA58713-4538-DBFC-3789-EB153DC7695E}"/>
              </a:ext>
            </a:extLst>
          </p:cNvPr>
          <p:cNvSpPr/>
          <p:nvPr/>
        </p:nvSpPr>
        <p:spPr>
          <a:xfrm>
            <a:off x="3239375" y="3713458"/>
            <a:ext cx="1604121" cy="79932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822D815-C9A9-7B34-2D44-2CD2E1B38D8D}"/>
              </a:ext>
            </a:extLst>
          </p:cNvPr>
          <p:cNvSpPr txBox="1"/>
          <p:nvPr/>
        </p:nvSpPr>
        <p:spPr>
          <a:xfrm>
            <a:off x="30052" y="839854"/>
            <a:ext cx="10019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Input</a:t>
            </a:r>
          </a:p>
          <a:p>
            <a:r>
              <a:rPr lang="en-US" sz="1000" dirty="0"/>
              <a:t>128x128x128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B502204-4939-104D-4A95-5889C6DAAACF}"/>
              </a:ext>
            </a:extLst>
          </p:cNvPr>
          <p:cNvSpPr txBox="1"/>
          <p:nvPr/>
        </p:nvSpPr>
        <p:spPr>
          <a:xfrm>
            <a:off x="1357600" y="371867"/>
            <a:ext cx="1151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C1 </a:t>
            </a:r>
          </a:p>
          <a:p>
            <a:r>
              <a:rPr lang="en-US" sz="1000" dirty="0"/>
              <a:t>128x128x128 x16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82E358F-5DCF-2D71-5532-AAA8248D72BB}"/>
              </a:ext>
            </a:extLst>
          </p:cNvPr>
          <p:cNvSpPr txBox="1"/>
          <p:nvPr/>
        </p:nvSpPr>
        <p:spPr>
          <a:xfrm>
            <a:off x="55995" y="1350110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P1 </a:t>
            </a:r>
          </a:p>
          <a:p>
            <a:r>
              <a:rPr lang="en-US" sz="1000" dirty="0"/>
              <a:t>64x64x64 x16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CEECAB0-48C6-76E7-694F-CB912770C488}"/>
              </a:ext>
            </a:extLst>
          </p:cNvPr>
          <p:cNvSpPr txBox="1"/>
          <p:nvPr/>
        </p:nvSpPr>
        <p:spPr>
          <a:xfrm>
            <a:off x="1960821" y="1342139"/>
            <a:ext cx="9932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C2 </a:t>
            </a:r>
          </a:p>
          <a:p>
            <a:r>
              <a:rPr lang="en-US" sz="1000" dirty="0"/>
              <a:t>64x64x64 x32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1F9FD83-5F53-BC21-8E90-33FBDAFF73CB}"/>
              </a:ext>
            </a:extLst>
          </p:cNvPr>
          <p:cNvSpPr txBox="1"/>
          <p:nvPr/>
        </p:nvSpPr>
        <p:spPr>
          <a:xfrm>
            <a:off x="846751" y="2406262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P2 </a:t>
            </a:r>
          </a:p>
          <a:p>
            <a:r>
              <a:rPr lang="en-US" sz="1000" dirty="0"/>
              <a:t>32x32x32 x32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0E803A1-BD9E-E1EE-67FF-49D0AB86184E}"/>
              </a:ext>
            </a:extLst>
          </p:cNvPr>
          <p:cNvSpPr txBox="1"/>
          <p:nvPr/>
        </p:nvSpPr>
        <p:spPr>
          <a:xfrm>
            <a:off x="1493362" y="3366445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P3 </a:t>
            </a:r>
          </a:p>
          <a:p>
            <a:r>
              <a:rPr lang="en-US" sz="1000" dirty="0"/>
              <a:t>16x16x16 x64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BD9BF89-EAD7-9BC7-AEB2-B103E6255138}"/>
              </a:ext>
            </a:extLst>
          </p:cNvPr>
          <p:cNvSpPr txBox="1"/>
          <p:nvPr/>
        </p:nvSpPr>
        <p:spPr>
          <a:xfrm>
            <a:off x="2553457" y="4368010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P4</a:t>
            </a:r>
          </a:p>
          <a:p>
            <a:r>
              <a:rPr lang="en-US" sz="1000" dirty="0"/>
              <a:t>8x8x8x128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3E6C7AB-579E-6E4E-A2AF-41DBEA73CCFB}"/>
              </a:ext>
            </a:extLst>
          </p:cNvPr>
          <p:cNvSpPr txBox="1"/>
          <p:nvPr/>
        </p:nvSpPr>
        <p:spPr>
          <a:xfrm>
            <a:off x="2610450" y="2354478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C3 </a:t>
            </a:r>
          </a:p>
          <a:p>
            <a:r>
              <a:rPr lang="en-US" sz="1000" dirty="0"/>
              <a:t>32x32x32 x64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B675216-F101-3156-CF9B-E72CA58A064F}"/>
              </a:ext>
            </a:extLst>
          </p:cNvPr>
          <p:cNvSpPr txBox="1"/>
          <p:nvPr/>
        </p:nvSpPr>
        <p:spPr>
          <a:xfrm>
            <a:off x="3157732" y="3345194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C4 </a:t>
            </a:r>
          </a:p>
          <a:p>
            <a:r>
              <a:rPr lang="en-US" sz="1000" dirty="0"/>
              <a:t>16x16x16 x128</a:t>
            </a:r>
          </a:p>
        </p:txBody>
      </p:sp>
      <p:sp>
        <p:nvSpPr>
          <p:cNvPr id="144" name="Arrow: Right 143">
            <a:extLst>
              <a:ext uri="{FF2B5EF4-FFF2-40B4-BE49-F238E27FC236}">
                <a16:creationId xmlns:a16="http://schemas.microsoft.com/office/drawing/2014/main" id="{5FBD7C8F-9FFF-D0DF-5830-FC3FCD9D84A5}"/>
              </a:ext>
            </a:extLst>
          </p:cNvPr>
          <p:cNvSpPr/>
          <p:nvPr/>
        </p:nvSpPr>
        <p:spPr>
          <a:xfrm rot="3423528">
            <a:off x="-49484" y="2614313"/>
            <a:ext cx="1247440" cy="355932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84934-A66A-32AE-4346-8163536E0F9D}"/>
              </a:ext>
            </a:extLst>
          </p:cNvPr>
          <p:cNvSpPr txBox="1"/>
          <p:nvPr/>
        </p:nvSpPr>
        <p:spPr>
          <a:xfrm>
            <a:off x="3387850" y="446544"/>
            <a:ext cx="10363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Concatenation</a:t>
            </a:r>
          </a:p>
        </p:txBody>
      </p:sp>
      <p:sp>
        <p:nvSpPr>
          <p:cNvPr id="146" name="Arrow: Right 145">
            <a:extLst>
              <a:ext uri="{FF2B5EF4-FFF2-40B4-BE49-F238E27FC236}">
                <a16:creationId xmlns:a16="http://schemas.microsoft.com/office/drawing/2014/main" id="{669A528A-249F-BB69-A74E-C2418CF7636C}"/>
              </a:ext>
            </a:extLst>
          </p:cNvPr>
          <p:cNvSpPr/>
          <p:nvPr/>
        </p:nvSpPr>
        <p:spPr>
          <a:xfrm rot="18126914">
            <a:off x="7011169" y="2595205"/>
            <a:ext cx="1236518" cy="355932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91B324-B117-1CEF-7E82-8B7FA77E6682}"/>
              </a:ext>
            </a:extLst>
          </p:cNvPr>
          <p:cNvSpPr txBox="1"/>
          <p:nvPr/>
        </p:nvSpPr>
        <p:spPr>
          <a:xfrm>
            <a:off x="4892881" y="4349699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C5 </a:t>
            </a:r>
          </a:p>
          <a:p>
            <a:r>
              <a:rPr lang="en-US" sz="1000" dirty="0"/>
              <a:t>8x8x8x256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1B87460F-C245-EC05-E37B-9FCEDFC32991}"/>
              </a:ext>
            </a:extLst>
          </p:cNvPr>
          <p:cNvSpPr txBox="1"/>
          <p:nvPr/>
        </p:nvSpPr>
        <p:spPr>
          <a:xfrm>
            <a:off x="5832433" y="3427627"/>
            <a:ext cx="10367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C6</a:t>
            </a:r>
          </a:p>
          <a:p>
            <a:r>
              <a:rPr lang="en-US" sz="1000" dirty="0"/>
              <a:t>16x16x16 x128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292345D-9A96-597D-74FB-D589B8F448C1}"/>
              </a:ext>
            </a:extLst>
          </p:cNvPr>
          <p:cNvSpPr txBox="1"/>
          <p:nvPr/>
        </p:nvSpPr>
        <p:spPr>
          <a:xfrm>
            <a:off x="6426399" y="2558131"/>
            <a:ext cx="952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C7</a:t>
            </a:r>
          </a:p>
          <a:p>
            <a:r>
              <a:rPr lang="en-US" sz="1000" dirty="0"/>
              <a:t>32x32x32 x64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27A4CA-9926-310B-2679-16387FFBDF82}"/>
              </a:ext>
            </a:extLst>
          </p:cNvPr>
          <p:cNvSpPr txBox="1"/>
          <p:nvPr/>
        </p:nvSpPr>
        <p:spPr>
          <a:xfrm>
            <a:off x="7073703" y="1603379"/>
            <a:ext cx="10105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C8</a:t>
            </a:r>
          </a:p>
          <a:p>
            <a:r>
              <a:rPr lang="en-US" sz="1000" dirty="0"/>
              <a:t>64x64x64 x32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EA4BF0-9E33-541E-3F33-9F95402CEAA2}"/>
              </a:ext>
            </a:extLst>
          </p:cNvPr>
          <p:cNvSpPr txBox="1"/>
          <p:nvPr/>
        </p:nvSpPr>
        <p:spPr>
          <a:xfrm>
            <a:off x="-1330" y="3196015"/>
            <a:ext cx="905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Compaction path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0A1D6BA-DE6F-BB15-C1B7-4A2E07153A94}"/>
              </a:ext>
            </a:extLst>
          </p:cNvPr>
          <p:cNvSpPr txBox="1"/>
          <p:nvPr/>
        </p:nvSpPr>
        <p:spPr>
          <a:xfrm>
            <a:off x="7715105" y="2681494"/>
            <a:ext cx="905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Upsample</a:t>
            </a:r>
            <a:r>
              <a:rPr lang="en-US" sz="1000" dirty="0"/>
              <a:t> path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562C486-E246-61AC-37D4-B9DEB6932C8E}"/>
              </a:ext>
            </a:extLst>
          </p:cNvPr>
          <p:cNvSpPr txBox="1"/>
          <p:nvPr/>
        </p:nvSpPr>
        <p:spPr>
          <a:xfrm>
            <a:off x="7284791" y="993357"/>
            <a:ext cx="124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C9</a:t>
            </a:r>
          </a:p>
          <a:p>
            <a:r>
              <a:rPr lang="en-US" sz="1000" dirty="0"/>
              <a:t>128x128x128 x16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E1EADF13-BCDE-138C-964D-2ECE6C149E13}"/>
              </a:ext>
            </a:extLst>
          </p:cNvPr>
          <p:cNvSpPr txBox="1"/>
          <p:nvPr/>
        </p:nvSpPr>
        <p:spPr>
          <a:xfrm>
            <a:off x="8215242" y="339909"/>
            <a:ext cx="124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Final output</a:t>
            </a:r>
          </a:p>
          <a:p>
            <a:r>
              <a:rPr lang="en-US" sz="1000" dirty="0"/>
              <a:t>128x128x128x1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9DD448F-772D-B117-5B19-4F97AC35F1C4}"/>
              </a:ext>
            </a:extLst>
          </p:cNvPr>
          <p:cNvSpPr txBox="1"/>
          <p:nvPr/>
        </p:nvSpPr>
        <p:spPr>
          <a:xfrm>
            <a:off x="4304611" y="2896043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U6 = U6+C4 </a:t>
            </a:r>
          </a:p>
          <a:p>
            <a:r>
              <a:rPr lang="en-US" sz="1000" dirty="0"/>
              <a:t>16x16x16x256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75934A7-3E81-51D6-F606-53C0214D055F}"/>
              </a:ext>
            </a:extLst>
          </p:cNvPr>
          <p:cNvSpPr txBox="1"/>
          <p:nvPr/>
        </p:nvSpPr>
        <p:spPr>
          <a:xfrm>
            <a:off x="4958366" y="1934383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U7=U7+C3 </a:t>
            </a:r>
          </a:p>
          <a:p>
            <a:r>
              <a:rPr lang="en-US" sz="1000" dirty="0"/>
              <a:t>32x32x32x128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0748670-440A-118B-B652-1D157B57B483}"/>
              </a:ext>
            </a:extLst>
          </p:cNvPr>
          <p:cNvSpPr txBox="1"/>
          <p:nvPr/>
        </p:nvSpPr>
        <p:spPr>
          <a:xfrm>
            <a:off x="5595429" y="914059"/>
            <a:ext cx="9932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U8=U8+C2 </a:t>
            </a:r>
          </a:p>
          <a:p>
            <a:r>
              <a:rPr lang="en-US" sz="1000" dirty="0"/>
              <a:t>64x64x64 x64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ECBF5EA-DC6F-6E4F-C354-9BE0639CB51D}"/>
              </a:ext>
            </a:extLst>
          </p:cNvPr>
          <p:cNvSpPr txBox="1"/>
          <p:nvPr/>
        </p:nvSpPr>
        <p:spPr>
          <a:xfrm>
            <a:off x="5673161" y="29205"/>
            <a:ext cx="1151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U9=U9+C1 </a:t>
            </a:r>
          </a:p>
          <a:p>
            <a:r>
              <a:rPr lang="en-US" sz="1000" dirty="0"/>
              <a:t>128x128x128 x32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D8FD396-2C5D-2141-98E6-C4F1CAC24CAB}"/>
              </a:ext>
            </a:extLst>
          </p:cNvPr>
          <p:cNvSpPr txBox="1"/>
          <p:nvPr/>
        </p:nvSpPr>
        <p:spPr>
          <a:xfrm>
            <a:off x="7347867" y="4389596"/>
            <a:ext cx="12073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Upsample</a:t>
            </a:r>
            <a:r>
              <a:rPr lang="en-US" sz="1000" dirty="0"/>
              <a:t> stride 2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4300833-4B3A-C94B-F831-486C1B51ABF3}"/>
              </a:ext>
            </a:extLst>
          </p:cNvPr>
          <p:cNvSpPr txBox="1"/>
          <p:nvPr/>
        </p:nvSpPr>
        <p:spPr>
          <a:xfrm>
            <a:off x="7347867" y="4121788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Maxpool</a:t>
            </a:r>
            <a:r>
              <a:rPr lang="en-US" sz="1000" dirty="0"/>
              <a:t> stride2</a:t>
            </a:r>
          </a:p>
        </p:txBody>
      </p:sp>
      <p:sp>
        <p:nvSpPr>
          <p:cNvPr id="161" name="Arrow: Right 160">
            <a:extLst>
              <a:ext uri="{FF2B5EF4-FFF2-40B4-BE49-F238E27FC236}">
                <a16:creationId xmlns:a16="http://schemas.microsoft.com/office/drawing/2014/main" id="{56B66309-E7C1-1FEF-ABF6-02B7C73DAA80}"/>
              </a:ext>
            </a:extLst>
          </p:cNvPr>
          <p:cNvSpPr/>
          <p:nvPr/>
        </p:nvSpPr>
        <p:spPr>
          <a:xfrm>
            <a:off x="8379502" y="3919700"/>
            <a:ext cx="468238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0DAC8117-6F6C-EFD4-0247-68A9238C3F88}"/>
              </a:ext>
            </a:extLst>
          </p:cNvPr>
          <p:cNvSpPr txBox="1"/>
          <p:nvPr/>
        </p:nvSpPr>
        <p:spPr>
          <a:xfrm>
            <a:off x="7354455" y="3918229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Conv 3D</a:t>
            </a:r>
          </a:p>
        </p:txBody>
      </p:sp>
      <p:sp>
        <p:nvSpPr>
          <p:cNvPr id="163" name="Arrow: Right 162">
            <a:extLst>
              <a:ext uri="{FF2B5EF4-FFF2-40B4-BE49-F238E27FC236}">
                <a16:creationId xmlns:a16="http://schemas.microsoft.com/office/drawing/2014/main" id="{D475E984-ED54-AC6D-F8CB-3B2ED921BF47}"/>
              </a:ext>
            </a:extLst>
          </p:cNvPr>
          <p:cNvSpPr/>
          <p:nvPr/>
        </p:nvSpPr>
        <p:spPr>
          <a:xfrm>
            <a:off x="8418992" y="4689900"/>
            <a:ext cx="426557" cy="22905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4FDF4DEE-2F9D-367E-AC46-2DA398A1263C}"/>
              </a:ext>
            </a:extLst>
          </p:cNvPr>
          <p:cNvSpPr txBox="1"/>
          <p:nvPr/>
        </p:nvSpPr>
        <p:spPr>
          <a:xfrm>
            <a:off x="7354455" y="4663368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Final Conv </a:t>
            </a:r>
          </a:p>
        </p:txBody>
      </p:sp>
    </p:spTree>
    <p:extLst>
      <p:ext uri="{BB962C8B-B14F-4D97-AF65-F5344CB8AC3E}">
        <p14:creationId xmlns:p14="http://schemas.microsoft.com/office/powerpoint/2010/main" val="273528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</Words>
  <Application>Microsoft Office PowerPoint</Application>
  <PresentationFormat>On-screen Show (16:9)</PresentationFormat>
  <Paragraphs>122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3D UNET GBM Auto Segmentation</vt:lpstr>
      <vt:lpstr>Intro</vt:lpstr>
      <vt:lpstr>Datasets</vt:lpstr>
      <vt:lpstr>Two Strategies tested</vt:lpstr>
      <vt:lpstr>Unsupevised – VAE with MB Conv</vt:lpstr>
      <vt:lpstr>Unsupevised – VAE with MB Conv</vt:lpstr>
      <vt:lpstr>VAE MBConv results</vt:lpstr>
      <vt:lpstr>VAE MBConv conclussions</vt:lpstr>
      <vt:lpstr>Supevised – 3D UNET Architecture</vt:lpstr>
      <vt:lpstr>3D UNET Architecture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2017-08-01T15:40:51Z</dcterms:created>
  <dcterms:modified xsi:type="dcterms:W3CDTF">2025-06-24T14:00:31Z</dcterms:modified>
</cp:coreProperties>
</file>